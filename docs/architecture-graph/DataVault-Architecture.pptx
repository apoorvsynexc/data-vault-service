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1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7A63AC-8CC9-4A1B-96E2-BD0E655B6E1E}" v="2" dt="2026-08-25T13:02:26.7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synexc2@outlook.com" userId="e5d54069826264b7" providerId="LiveId" clId="{BE300FA2-E2D7-44DB-B031-7479FCAE4FAB}"/>
    <pc:docChg chg="custSel delSld modSld">
      <pc:chgData name="samsynexc2@outlook.com" userId="e5d54069826264b7" providerId="LiveId" clId="{BE300FA2-E2D7-44DB-B031-7479FCAE4FAB}" dt="2026-08-25T13:03:48.897" v="41" actId="20577"/>
      <pc:docMkLst>
        <pc:docMk/>
      </pc:docMkLst>
      <pc:sldChg chg="modSp mod">
        <pc:chgData name="samsynexc2@outlook.com" userId="e5d54069826264b7" providerId="LiveId" clId="{BE300FA2-E2D7-44DB-B031-7479FCAE4FAB}" dt="2026-08-25T13:03:14.091" v="39" actId="20577"/>
        <pc:sldMkLst>
          <pc:docMk/>
          <pc:sldMk cId="0" sldId="257"/>
        </pc:sldMkLst>
        <pc:spChg chg="mod">
          <ac:chgData name="samsynexc2@outlook.com" userId="e5d54069826264b7" providerId="LiveId" clId="{BE300FA2-E2D7-44DB-B031-7479FCAE4FAB}" dt="2026-08-25T13:02:28.232" v="37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samsynexc2@outlook.com" userId="e5d54069826264b7" providerId="LiveId" clId="{BE300FA2-E2D7-44DB-B031-7479FCAE4FAB}" dt="2026-08-25T13:03:14.091" v="39" actId="20577"/>
          <ac:spMkLst>
            <pc:docMk/>
            <pc:sldMk cId="0" sldId="257"/>
            <ac:spMk id="7" creationId="{00000000-0000-0000-0000-000000000000}"/>
          </ac:spMkLst>
        </pc:spChg>
      </pc:sldChg>
      <pc:sldChg chg="delSp modSp mod">
        <pc:chgData name="samsynexc2@outlook.com" userId="e5d54069826264b7" providerId="LiveId" clId="{BE300FA2-E2D7-44DB-B031-7479FCAE4FAB}" dt="2026-08-25T06:20:39.031" v="8" actId="14100"/>
        <pc:sldMkLst>
          <pc:docMk/>
          <pc:sldMk cId="0" sldId="258"/>
        </pc:sldMkLst>
        <pc:spChg chg="mod">
          <ac:chgData name="samsynexc2@outlook.com" userId="e5d54069826264b7" providerId="LiveId" clId="{BE300FA2-E2D7-44DB-B031-7479FCAE4FAB}" dt="2026-08-25T06:20:13.035" v="2" actId="14100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samsynexc2@outlook.com" userId="e5d54069826264b7" providerId="LiveId" clId="{BE300FA2-E2D7-44DB-B031-7479FCAE4FAB}" dt="2026-08-25T06:20:19.049" v="5"/>
          <ac:spMkLst>
            <pc:docMk/>
            <pc:sldMk cId="0" sldId="258"/>
            <ac:spMk id="9" creationId="{00000000-0000-0000-0000-000000000000}"/>
          </ac:spMkLst>
        </pc:spChg>
        <pc:picChg chg="mod">
          <ac:chgData name="samsynexc2@outlook.com" userId="e5d54069826264b7" providerId="LiveId" clId="{BE300FA2-E2D7-44DB-B031-7479FCAE4FAB}" dt="2026-08-25T06:20:39.031" v="8" actId="14100"/>
          <ac:picMkLst>
            <pc:docMk/>
            <pc:sldMk cId="0" sldId="258"/>
            <ac:picMk id="8" creationId="{00000000-0000-0000-0000-000000000000}"/>
          </ac:picMkLst>
        </pc:picChg>
      </pc:sldChg>
      <pc:sldChg chg="modSp mod">
        <pc:chgData name="samsynexc2@outlook.com" userId="e5d54069826264b7" providerId="LiveId" clId="{BE300FA2-E2D7-44DB-B031-7479FCAE4FAB}" dt="2026-08-25T06:21:26.441" v="17" actId="14100"/>
        <pc:sldMkLst>
          <pc:docMk/>
          <pc:sldMk cId="0" sldId="259"/>
        </pc:sldMkLst>
        <pc:spChg chg="mod">
          <ac:chgData name="samsynexc2@outlook.com" userId="e5d54069826264b7" providerId="LiveId" clId="{BE300FA2-E2D7-44DB-B031-7479FCAE4FAB}" dt="2026-08-25T06:21:07.648" v="12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samsynexc2@outlook.com" userId="e5d54069826264b7" providerId="LiveId" clId="{BE300FA2-E2D7-44DB-B031-7479FCAE4FAB}" dt="2026-08-25T06:21:19.551" v="14" actId="1076"/>
          <ac:spMkLst>
            <pc:docMk/>
            <pc:sldMk cId="0" sldId="259"/>
            <ac:spMk id="9" creationId="{00000000-0000-0000-0000-000000000000}"/>
          </ac:spMkLst>
        </pc:spChg>
        <pc:picChg chg="mod">
          <ac:chgData name="samsynexc2@outlook.com" userId="e5d54069826264b7" providerId="LiveId" clId="{BE300FA2-E2D7-44DB-B031-7479FCAE4FAB}" dt="2026-08-25T06:21:26.441" v="17" actId="14100"/>
          <ac:picMkLst>
            <pc:docMk/>
            <pc:sldMk cId="0" sldId="259"/>
            <ac:picMk id="8" creationId="{00000000-0000-0000-0000-000000000000}"/>
          </ac:picMkLst>
        </pc:picChg>
      </pc:sldChg>
      <pc:sldChg chg="modSp mod">
        <pc:chgData name="samsynexc2@outlook.com" userId="e5d54069826264b7" providerId="LiveId" clId="{BE300FA2-E2D7-44DB-B031-7479FCAE4FAB}" dt="2026-08-25T13:03:48.897" v="41" actId="20577"/>
        <pc:sldMkLst>
          <pc:docMk/>
          <pc:sldMk cId="0" sldId="272"/>
        </pc:sldMkLst>
        <pc:graphicFrameChg chg="modGraphic">
          <ac:chgData name="samsynexc2@outlook.com" userId="e5d54069826264b7" providerId="LiveId" clId="{BE300FA2-E2D7-44DB-B031-7479FCAE4FAB}" dt="2026-08-25T13:03:48.897" v="41" actId="20577"/>
          <ac:graphicFrameMkLst>
            <pc:docMk/>
            <pc:sldMk cId="0" sldId="272"/>
            <ac:graphicFrameMk id="6" creationId="{00000000-0000-0000-0000-000000000000}"/>
          </ac:graphicFrameMkLst>
        </pc:graphicFrameChg>
      </pc:sldChg>
      <pc:sldChg chg="modSp del mod">
        <pc:chgData name="samsynexc2@outlook.com" userId="e5d54069826264b7" providerId="LiveId" clId="{BE300FA2-E2D7-44DB-B031-7479FCAE4FAB}" dt="2026-08-25T06:24:29.759" v="35" actId="2696"/>
        <pc:sldMkLst>
          <pc:docMk/>
          <pc:sldMk cId="0" sldId="282"/>
        </pc:sldMkLst>
        <pc:graphicFrameChg chg="modGraphic">
          <ac:chgData name="samsynexc2@outlook.com" userId="e5d54069826264b7" providerId="LiveId" clId="{BE300FA2-E2D7-44DB-B031-7479FCAE4FAB}" dt="2026-08-25T06:24:22.494" v="34" actId="20577"/>
          <ac:graphicFrameMkLst>
            <pc:docMk/>
            <pc:sldMk cId="0" sldId="282"/>
            <ac:graphicFrameMk id="6" creationId="{00000000-0000-0000-0000-000000000000}"/>
          </ac:graphicFrameMkLst>
        </pc:graphicFrameChg>
      </pc:sldChg>
      <pc:sldChg chg="modSp mod">
        <pc:chgData name="samsynexc2@outlook.com" userId="e5d54069826264b7" providerId="LiveId" clId="{BE300FA2-E2D7-44DB-B031-7479FCAE4FAB}" dt="2026-08-25T06:24:10.396" v="33" actId="20577"/>
        <pc:sldMkLst>
          <pc:docMk/>
          <pc:sldMk cId="0" sldId="285"/>
        </pc:sldMkLst>
        <pc:spChg chg="mod">
          <ac:chgData name="samsynexc2@outlook.com" userId="e5d54069826264b7" providerId="LiveId" clId="{BE300FA2-E2D7-44DB-B031-7479FCAE4FAB}" dt="2026-08-25T06:24:10.396" v="33" actId="20577"/>
          <ac:spMkLst>
            <pc:docMk/>
            <pc:sldMk cId="0" sldId="285"/>
            <ac:spMk id="6" creationId="{00000000-0000-0000-0000-000000000000}"/>
          </ac:spMkLst>
        </pc:spChg>
      </pc:sldChg>
      <pc:sldChg chg="del">
        <pc:chgData name="samsynexc2@outlook.com" userId="e5d54069826264b7" providerId="LiveId" clId="{BE300FA2-E2D7-44DB-B031-7479FCAE4FAB}" dt="2026-08-25T06:23:52.527" v="32" actId="2696"/>
        <pc:sldMkLst>
          <pc:docMk/>
          <pc:sldMk cId="0" sldId="290"/>
        </pc:sldMkLst>
      </pc:sldChg>
      <pc:sldChg chg="addSp delSp modSp mod chgLayout">
        <pc:chgData name="samsynexc2@outlook.com" userId="e5d54069826264b7" providerId="LiveId" clId="{BE300FA2-E2D7-44DB-B031-7479FCAE4FAB}" dt="2026-08-25T06:23:43.971" v="31"/>
        <pc:sldMkLst>
          <pc:docMk/>
          <pc:sldMk cId="0" sldId="291"/>
        </pc:sldMkLst>
        <pc:spChg chg="del mod">
          <ac:chgData name="samsynexc2@outlook.com" userId="e5d54069826264b7" providerId="LiveId" clId="{BE300FA2-E2D7-44DB-B031-7479FCAE4FAB}" dt="2026-08-25T06:23:43.971" v="31"/>
          <ac:spMkLst>
            <pc:docMk/>
            <pc:sldMk cId="0" sldId="291"/>
            <ac:spMk id="4" creationId="{00000000-0000-0000-0000-000000000000}"/>
          </ac:spMkLst>
        </pc:spChg>
        <pc:spChg chg="del mod">
          <ac:chgData name="samsynexc2@outlook.com" userId="e5d54069826264b7" providerId="LiveId" clId="{BE300FA2-E2D7-44DB-B031-7479FCAE4FAB}" dt="2026-08-25T06:23:43.971" v="29"/>
          <ac:spMkLst>
            <pc:docMk/>
            <pc:sldMk cId="0" sldId="291"/>
            <ac:spMk id="5" creationId="{00000000-0000-0000-0000-000000000000}"/>
          </ac:spMkLst>
        </pc:spChg>
        <pc:spChg chg="add del mod">
          <ac:chgData name="samsynexc2@outlook.com" userId="e5d54069826264b7" providerId="LiveId" clId="{BE300FA2-E2D7-44DB-B031-7479FCAE4FAB}" dt="2026-08-25T06:23:43.971" v="27"/>
          <ac:spMkLst>
            <pc:docMk/>
            <pc:sldMk cId="0" sldId="291"/>
            <ac:spMk id="6" creationId="{D942000E-93F2-142A-C7B3-6611AE11713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9C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9C6E2A"/>
                </a:solidFill>
                <a:latin typeface="Segoe UI"/>
              </a:rPr>
              <a:t>SYSTEM ARCHITECTURE  ·  CONFIRMED FROM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16211C"/>
                </a:solidFill>
                <a:latin typeface="Segoe UI Semibold"/>
              </a:rPr>
              <a:t>DataVault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8564D"/>
                </a:solidFill>
                <a:latin typeface="Segoe UI"/>
              </a:rPr>
              <a:t>Traced across </a:t>
            </a:r>
            <a:r>
              <a:rPr sz="1500">
                <a:solidFill>
                  <a:srgbClr val="2F6B59"/>
                </a:solidFill>
                <a:latin typeface="Consolas"/>
              </a:rPr>
              <a:t>client-service</a:t>
            </a:r>
            <a:r>
              <a:rPr sz="1600" b="0">
                <a:solidFill>
                  <a:srgbClr val="48564D"/>
                </a:solidFill>
                <a:latin typeface="Segoe UI"/>
              </a:rPr>
              <a:t>, </a:t>
            </a:r>
            <a:r>
              <a:rPr sz="1500">
                <a:solidFill>
                  <a:srgbClr val="2F6B59"/>
                </a:solidFill>
                <a:latin typeface="Consolas"/>
              </a:rPr>
              <a:t>backup-service</a:t>
            </a:r>
            <a:r>
              <a:rPr sz="1600" b="0">
                <a:solidFill>
                  <a:srgbClr val="48564D"/>
                </a:solidFill>
                <a:latin typeface="Segoe UI"/>
              </a:rPr>
              <a:t>, and </a:t>
            </a:r>
            <a:r>
              <a:rPr sz="1500">
                <a:solidFill>
                  <a:srgbClr val="2F6B59"/>
                </a:solidFill>
                <a:latin typeface="Consolas"/>
              </a:rPr>
              <a:t>DataValut-Middleware-App</a:t>
            </a:r>
            <a:r>
              <a:rPr sz="1600" b="0">
                <a:solidFill>
                  <a:srgbClr val="48564D"/>
                </a:solidFill>
                <a:latin typeface="Segoe UI"/>
              </a:rPr>
              <a:t> — every diagram, table, and claim sourced from direct code inspection.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7C8A80"/>
                </a:solidFill>
                <a:latin typeface="Consolas"/>
              </a:rPr>
              <a:t>client-service · EC2      backup-service · ECS Fargate      DataValut-Middleware-App · EMR Serverless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01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11185855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 dirty="0" err="1">
                <a:solidFill>
                  <a:srgbClr val="48564D"/>
                </a:solidFill>
                <a:latin typeface="Segoe UI"/>
              </a:rPr>
              <a:t>DataVault</a:t>
            </a:r>
            <a:r>
              <a:rPr sz="1500" b="0" dirty="0">
                <a:solidFill>
                  <a:srgbClr val="48564D"/>
                </a:solidFill>
                <a:latin typeface="Segoe UI"/>
              </a:rPr>
              <a:t> is a </a:t>
            </a:r>
            <a:r>
              <a:rPr lang="en-IN" sz="1600" dirty="0"/>
              <a:t>two primary Node.js/TypeScript runtime services, plus the Java/Spark EMR processing application </a:t>
            </a:r>
            <a:r>
              <a:rPr sz="1500" b="0" dirty="0">
                <a:solidFill>
                  <a:srgbClr val="48564D"/>
                </a:solidFill>
                <a:latin typeface="Segoe UI"/>
              </a:rPr>
              <a:t>that backs up, archives, and restores Salesforce org data into a Hudi-based data lake on S3.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47088"/>
            <a:ext cx="11185855" cy="3262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50" b="1" dirty="0">
                <a:solidFill>
                  <a:srgbClr val="9C6E2A"/>
                </a:solidFill>
                <a:latin typeface="Segoe UI"/>
              </a:rPr>
              <a:t>—  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Two runtime services exist: </a:t>
            </a:r>
            <a:r>
              <a:rPr sz="1450" b="1" dirty="0">
                <a:solidFill>
                  <a:srgbClr val="16211C"/>
                </a:solidFill>
                <a:latin typeface="Segoe UI"/>
              </a:rPr>
              <a:t>client-service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 (EC2, PM2) and </a:t>
            </a:r>
            <a:r>
              <a:rPr sz="1450" b="1" dirty="0">
                <a:solidFill>
                  <a:srgbClr val="16211C"/>
                </a:solidFill>
                <a:latin typeface="Segoe UI"/>
              </a:rPr>
              <a:t>backup-service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 (ECS Fargate, Docker).</a:t>
            </a:r>
          </a:p>
          <a:p>
            <a:pPr>
              <a:spcAft>
                <a:spcPts val="900"/>
              </a:spcAft>
            </a:pPr>
            <a:r>
              <a:rPr sz="1450" b="1" dirty="0">
                <a:solidFill>
                  <a:srgbClr val="9C6E2A"/>
                </a:solidFill>
                <a:latin typeface="Segoe UI"/>
              </a:rPr>
              <a:t>—  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client-service is the </a:t>
            </a:r>
            <a:r>
              <a:rPr sz="1450" b="1" dirty="0">
                <a:solidFill>
                  <a:srgbClr val="16211C"/>
                </a:solidFill>
                <a:latin typeface="Segoe UI"/>
              </a:rPr>
              <a:t>API/orchestration/auth layer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 — Salesforce OAuth, RBAC, config/metadata CRUD, EMR job submission, Athena restore-preview.</a:t>
            </a:r>
          </a:p>
          <a:p>
            <a:pPr>
              <a:spcAft>
                <a:spcPts val="900"/>
              </a:spcAft>
            </a:pPr>
            <a:r>
              <a:rPr sz="1450" b="1" dirty="0">
                <a:solidFill>
                  <a:srgbClr val="9C6E2A"/>
                </a:solidFill>
                <a:latin typeface="Segoe UI"/>
              </a:rPr>
              <a:t>—  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backup-service is the </a:t>
            </a:r>
            <a:r>
              <a:rPr sz="1450" b="1" dirty="0">
                <a:solidFill>
                  <a:srgbClr val="16211C"/>
                </a:solidFill>
                <a:latin typeface="Segoe UI"/>
              </a:rPr>
              <a:t>data-movement worker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 — Bulk API extraction, raw CSV/JSON staging to S3, Glue registration, restore ingestion.</a:t>
            </a:r>
          </a:p>
          <a:p>
            <a:pPr>
              <a:spcAft>
                <a:spcPts val="900"/>
              </a:spcAft>
            </a:pPr>
            <a:r>
              <a:rPr sz="1450" b="1" dirty="0">
                <a:solidFill>
                  <a:srgbClr val="9C6E2A"/>
                </a:solidFill>
                <a:latin typeface="Segoe UI"/>
              </a:rPr>
              <a:t>—  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Salesforce connects via </a:t>
            </a:r>
            <a:r>
              <a:rPr sz="1450" b="1" dirty="0">
                <a:solidFill>
                  <a:srgbClr val="16211C"/>
                </a:solidFill>
                <a:latin typeface="Segoe UI"/>
              </a:rPr>
              <a:t>OAuth 2.0 with PKCE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 plus a pre-packaged </a:t>
            </a:r>
            <a:r>
              <a:rPr sz="1450" b="1" dirty="0">
                <a:solidFill>
                  <a:srgbClr val="16211C"/>
                </a:solidFill>
                <a:latin typeface="Segoe UI"/>
              </a:rPr>
              <a:t>External Client App (ECA)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 via the Metadata API.</a:t>
            </a:r>
          </a:p>
          <a:p>
            <a:pPr>
              <a:spcAft>
                <a:spcPts val="900"/>
              </a:spcAft>
            </a:pPr>
            <a:r>
              <a:rPr sz="1450" b="1" dirty="0">
                <a:solidFill>
                  <a:srgbClr val="9C6E2A"/>
                </a:solidFill>
                <a:latin typeface="Segoe UI"/>
              </a:rPr>
              <a:t>—  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The two services talk over </a:t>
            </a:r>
            <a:r>
              <a:rPr sz="1450" b="1" dirty="0">
                <a:solidFill>
                  <a:srgbClr val="16211C"/>
                </a:solidFill>
                <a:latin typeface="Segoe UI"/>
              </a:rPr>
              <a:t>HTTPS with a shared-secret header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 (</a:t>
            </a:r>
            <a:r>
              <a:rPr sz="1350" dirty="0">
                <a:solidFill>
                  <a:srgbClr val="2F6B59"/>
                </a:solidFill>
                <a:latin typeface="Consolas"/>
              </a:rPr>
              <a:t>X-Internal-Secret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, </a:t>
            </a:r>
            <a:r>
              <a:rPr sz="1350" dirty="0" err="1">
                <a:solidFill>
                  <a:srgbClr val="2F6B59"/>
                </a:solidFill>
                <a:latin typeface="Consolas"/>
              </a:rPr>
              <a:t>timingSafeEqual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 compare).</a:t>
            </a:r>
          </a:p>
          <a:p>
            <a:pPr>
              <a:spcAft>
                <a:spcPts val="900"/>
              </a:spcAft>
            </a:pPr>
            <a:r>
              <a:rPr sz="1450" b="1" dirty="0">
                <a:solidFill>
                  <a:srgbClr val="9C6E2A"/>
                </a:solidFill>
                <a:latin typeface="Segoe UI"/>
              </a:rPr>
              <a:t>—  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The Hudi write path runs as a </a:t>
            </a:r>
            <a:r>
              <a:rPr sz="1450" b="1" dirty="0">
                <a:solidFill>
                  <a:srgbClr val="16211C"/>
                </a:solidFill>
                <a:latin typeface="Segoe UI"/>
              </a:rPr>
              <a:t>Java/Spark job on EMR Serverless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 — record key </a:t>
            </a:r>
            <a:r>
              <a:rPr sz="1350" dirty="0">
                <a:solidFill>
                  <a:srgbClr val="2F6B59"/>
                </a:solidFill>
                <a:latin typeface="Consolas"/>
              </a:rPr>
              <a:t>Id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, </a:t>
            </a:r>
            <a:r>
              <a:rPr sz="1450" b="0" dirty="0" err="1">
                <a:solidFill>
                  <a:srgbClr val="48564D"/>
                </a:solidFill>
                <a:latin typeface="Segoe UI"/>
              </a:rPr>
              <a:t>precombine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2F6B59"/>
                </a:solidFill>
                <a:latin typeface="Consolas"/>
              </a:rPr>
              <a:t>LastModifiedDate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, Copy-on-Write, Hudi 1.1.0 / Spark 4.0.2.</a:t>
            </a:r>
          </a:p>
          <a:p>
            <a:pPr>
              <a:spcAft>
                <a:spcPts val="900"/>
              </a:spcAft>
            </a:pPr>
            <a:r>
              <a:rPr sz="1450" b="1" dirty="0">
                <a:solidFill>
                  <a:srgbClr val="9C6E2A"/>
                </a:solidFill>
                <a:latin typeface="Segoe UI"/>
              </a:rPr>
              <a:t>—  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Storage of record/config state is </a:t>
            </a:r>
            <a:r>
              <a:rPr sz="1450" b="1" dirty="0">
                <a:solidFill>
                  <a:srgbClr val="16211C"/>
                </a:solidFill>
                <a:latin typeface="Segoe UI"/>
              </a:rPr>
              <a:t>DynamoDB exclusively</a:t>
            </a:r>
            <a:r>
              <a:rPr lang="en-IN" sz="1450" b="1" dirty="0">
                <a:solidFill>
                  <a:srgbClr val="16211C"/>
                </a:solidFill>
                <a:latin typeface="Segoe UI"/>
              </a:rPr>
              <a:t>.</a:t>
            </a:r>
            <a:endParaRPr sz="1450" b="0" dirty="0">
              <a:solidFill>
                <a:srgbClr val="48564D"/>
              </a:solidFill>
              <a:latin typeface="Segoe UI"/>
            </a:endParaRPr>
          </a:p>
          <a:p>
            <a:pPr>
              <a:spcAft>
                <a:spcPts val="900"/>
              </a:spcAft>
            </a:pPr>
            <a:r>
              <a:rPr sz="1450" b="1" dirty="0">
                <a:solidFill>
                  <a:srgbClr val="9C6E2A"/>
                </a:solidFill>
                <a:latin typeface="Segoe UI"/>
              </a:rPr>
              <a:t>—  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Scheduling is </a:t>
            </a:r>
            <a:r>
              <a:rPr sz="1350" dirty="0">
                <a:solidFill>
                  <a:srgbClr val="2F6B59"/>
                </a:solidFill>
                <a:latin typeface="Consolas"/>
              </a:rPr>
              <a:t>node-</a:t>
            </a:r>
            <a:r>
              <a:rPr sz="1350" dirty="0" err="1">
                <a:solidFill>
                  <a:srgbClr val="2F6B59"/>
                </a:solidFill>
                <a:latin typeface="Consolas"/>
              </a:rPr>
              <a:t>cron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 + </a:t>
            </a:r>
            <a:r>
              <a:rPr sz="1350" dirty="0" err="1">
                <a:solidFill>
                  <a:srgbClr val="2F6B59"/>
                </a:solidFill>
                <a:latin typeface="Consolas"/>
              </a:rPr>
              <a:t>EventBridge</a:t>
            </a:r>
            <a:r>
              <a:rPr sz="1350" dirty="0">
                <a:solidFill>
                  <a:srgbClr val="2F6B59"/>
                </a:solidFill>
                <a:latin typeface="Consolas"/>
              </a:rPr>
              <a:t> Scheduler</a:t>
            </a:r>
            <a:r>
              <a:rPr sz="1450" b="0" dirty="0">
                <a:solidFill>
                  <a:srgbClr val="48564D"/>
                </a:solidFill>
                <a:latin typeface="Segoe UI"/>
              </a:rPr>
              <a:t> + a lightweight interval sweeper for stale-job cleanup.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02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2 · DIAGRAM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Executive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52020" y="1252728"/>
            <a:ext cx="6087655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52020" y="1252728"/>
            <a:ext cx="7389838" cy="3429000"/>
          </a:xfrm>
          <a:prstGeom prst="rect">
            <a:avLst/>
          </a:prstGeom>
          <a:noFill/>
          <a:ln w="9525">
            <a:solidFill>
              <a:srgbClr val="DD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o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684" y="1071716"/>
            <a:ext cx="9311148" cy="52700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03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3 · DIAGRAM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Detailed Service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38148" y="530352"/>
            <a:ext cx="5715397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38149" y="1252728"/>
            <a:ext cx="5715397" cy="3429000"/>
          </a:xfrm>
          <a:prstGeom prst="rect">
            <a:avLst/>
          </a:prstGeom>
          <a:noFill/>
          <a:ln w="9525">
            <a:solidFill>
              <a:srgbClr val="DD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ou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1" y="1344168"/>
            <a:ext cx="10304206" cy="41656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18" y="5784134"/>
            <a:ext cx="11185855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dirty="0">
                <a:solidFill>
                  <a:srgbClr val="48564D"/>
                </a:solidFill>
                <a:latin typeface="Segoe UI"/>
              </a:rPr>
              <a:t>client-service's </a:t>
            </a:r>
            <a:r>
              <a:rPr sz="1250" dirty="0">
                <a:solidFill>
                  <a:srgbClr val="2F6B59"/>
                </a:solidFill>
                <a:latin typeface="Consolas"/>
              </a:rPr>
              <a:t>services/spark-job/</a:t>
            </a:r>
            <a:r>
              <a:rPr sz="1250" dirty="0" err="1">
                <a:solidFill>
                  <a:srgbClr val="2F6B59"/>
                </a:solidFill>
                <a:latin typeface="Consolas"/>
              </a:rPr>
              <a:t>index.ts</a:t>
            </a:r>
            <a:r>
              <a:rPr sz="1350" b="0" dirty="0">
                <a:solidFill>
                  <a:srgbClr val="48564D"/>
                </a:solidFill>
                <a:latin typeface="Segoe UI"/>
              </a:rPr>
              <a:t> does </a:t>
            </a:r>
            <a:r>
              <a:rPr sz="1350" b="1" dirty="0">
                <a:solidFill>
                  <a:srgbClr val="16211C"/>
                </a:solidFill>
                <a:latin typeface="Segoe UI"/>
              </a:rPr>
              <a:t>not</a:t>
            </a:r>
            <a:r>
              <a:rPr sz="1350" b="0" dirty="0">
                <a:solidFill>
                  <a:srgbClr val="48564D"/>
                </a:solidFill>
                <a:latin typeface="Segoe UI"/>
              </a:rPr>
              <a:t> submit the EMR job — that happens in </a:t>
            </a:r>
            <a:r>
              <a:rPr sz="1250" dirty="0">
                <a:solidFill>
                  <a:srgbClr val="2F6B59"/>
                </a:solidFill>
                <a:latin typeface="Consolas"/>
              </a:rPr>
              <a:t>services/payload/</a:t>
            </a:r>
            <a:r>
              <a:rPr sz="1250" dirty="0" err="1">
                <a:solidFill>
                  <a:srgbClr val="2F6B59"/>
                </a:solidFill>
                <a:latin typeface="Consolas"/>
              </a:rPr>
              <a:t>index.ts</a:t>
            </a:r>
            <a:r>
              <a:rPr sz="1350" b="0" dirty="0">
                <a:solidFill>
                  <a:srgbClr val="48564D"/>
                </a:solidFill>
                <a:latin typeface="Segoe UI"/>
              </a:rPr>
              <a:t> (</a:t>
            </a:r>
            <a:r>
              <a:rPr sz="1250" dirty="0" err="1">
                <a:solidFill>
                  <a:srgbClr val="2F6B59"/>
                </a:solidFill>
                <a:latin typeface="Consolas"/>
              </a:rPr>
              <a:t>submitEMR</a:t>
            </a:r>
            <a:r>
              <a:rPr sz="1350" b="0" dirty="0">
                <a:solidFill>
                  <a:srgbClr val="48564D"/>
                </a:solidFill>
                <a:latin typeface="Segoe UI"/>
              </a:rPr>
              <a:t>). </a:t>
            </a:r>
            <a:r>
              <a:rPr sz="1250" dirty="0">
                <a:solidFill>
                  <a:srgbClr val="2F6B59"/>
                </a:solidFill>
                <a:latin typeface="Consolas"/>
              </a:rPr>
              <a:t>spark-job/</a:t>
            </a:r>
            <a:r>
              <a:rPr sz="1250" dirty="0" err="1">
                <a:solidFill>
                  <a:srgbClr val="2F6B59"/>
                </a:solidFill>
                <a:latin typeface="Consolas"/>
              </a:rPr>
              <a:t>index.ts</a:t>
            </a:r>
            <a:r>
              <a:rPr sz="1350" b="0" dirty="0">
                <a:solidFill>
                  <a:srgbClr val="48564D"/>
                </a:solidFill>
                <a:latin typeface="Segoe UI"/>
              </a:rPr>
              <a:t> is instead an HTTP client that calls backup-service's </a:t>
            </a:r>
            <a:r>
              <a:rPr sz="1250" dirty="0">
                <a:solidFill>
                  <a:srgbClr val="2F6B59"/>
                </a:solidFill>
                <a:latin typeface="Consolas"/>
              </a:rPr>
              <a:t>/v1/glue/ensure-compression-tables</a:t>
            </a:r>
            <a:r>
              <a:rPr sz="1350" b="0" dirty="0">
                <a:solidFill>
                  <a:srgbClr val="48564D"/>
                </a:solidFill>
                <a:latin typeface="Segoe UI"/>
              </a:rPr>
              <a:t> after Spark reports success.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04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4 · DIAGRAM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Backup Data Flow  (1 of 3)</a:t>
            </a:r>
          </a:p>
        </p:txBody>
      </p:sp>
      <p:sp>
        <p:nvSpPr>
          <p:cNvPr id="6" name="Rectangle 5"/>
          <p:cNvSpPr/>
          <p:nvPr/>
        </p:nvSpPr>
        <p:spPr>
          <a:xfrm>
            <a:off x="3735242" y="1252728"/>
            <a:ext cx="4721210" cy="5330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735242" y="1252728"/>
            <a:ext cx="4721210" cy="5330952"/>
          </a:xfrm>
          <a:prstGeom prst="rect">
            <a:avLst/>
          </a:prstGeom>
          <a:noFill/>
          <a:ln w="9525">
            <a:solidFill>
              <a:srgbClr val="DD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out-3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682" y="1344168"/>
            <a:ext cx="453833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05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4 · DIAGRAM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Backup Data Flow  (2 of 3)</a:t>
            </a:r>
          </a:p>
        </p:txBody>
      </p:sp>
      <p:sp>
        <p:nvSpPr>
          <p:cNvPr id="6" name="Rectangle 5"/>
          <p:cNvSpPr/>
          <p:nvPr/>
        </p:nvSpPr>
        <p:spPr>
          <a:xfrm>
            <a:off x="3908827" y="1252728"/>
            <a:ext cx="4374041" cy="5330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08827" y="1252728"/>
            <a:ext cx="4374041" cy="5330952"/>
          </a:xfrm>
          <a:prstGeom prst="rect">
            <a:avLst/>
          </a:prstGeom>
          <a:noFill/>
          <a:ln w="9525">
            <a:solidFill>
              <a:srgbClr val="DD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out-3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267" y="1344168"/>
            <a:ext cx="4191161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06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4 · DIAGRAM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Backup Data Flow  (3 of 3)</a:t>
            </a:r>
          </a:p>
        </p:txBody>
      </p:sp>
      <p:sp>
        <p:nvSpPr>
          <p:cNvPr id="6" name="Rectangle 5"/>
          <p:cNvSpPr/>
          <p:nvPr/>
        </p:nvSpPr>
        <p:spPr>
          <a:xfrm>
            <a:off x="3736093" y="1252728"/>
            <a:ext cx="4719509" cy="5330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736093" y="1252728"/>
            <a:ext cx="4719509" cy="5330952"/>
          </a:xfrm>
          <a:prstGeom prst="rect">
            <a:avLst/>
          </a:prstGeom>
          <a:noFill/>
          <a:ln w="9525">
            <a:solidFill>
              <a:srgbClr val="DD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out-3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533" y="1344168"/>
            <a:ext cx="4536629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07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Format-per-Object Clarification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27048"/>
            <a:ext cx="1118585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600" b="1">
                <a:solidFill>
                  <a:srgbClr val="16211C"/>
                </a:solidFill>
                <a:latin typeface="Segoe UI"/>
              </a:rPr>
              <a:t>Scheduled/archival backups</a:t>
            </a:r>
            <a:r>
              <a:rPr sz="1600" b="0">
                <a:solidFill>
                  <a:srgbClr val="48564D"/>
                </a:solidFill>
                <a:latin typeface="Segoe UI"/>
              </a:rPr>
              <a:t> query Salesforce </a:t>
            </a:r>
            <a:r>
              <a:rPr sz="1600" b="1">
                <a:solidFill>
                  <a:srgbClr val="16211C"/>
                </a:solidFill>
                <a:latin typeface="Segoe UI"/>
              </a:rPr>
              <a:t>Bulk API 2.0</a:t>
            </a:r>
            <a:r>
              <a:rPr sz="1600" b="0">
                <a:solidFill>
                  <a:srgbClr val="48564D"/>
                </a:solidFill>
                <a:latin typeface="Segoe UI"/>
              </a:rPr>
              <a:t>, which natively returns </a:t>
            </a:r>
            <a:r>
              <a:rPr sz="1600" b="1">
                <a:solidFill>
                  <a:srgbClr val="16211C"/>
                </a:solidFill>
                <a:latin typeface="Segoe UI"/>
              </a:rPr>
              <a:t>CSV</a:t>
            </a:r>
            <a:r>
              <a:rPr sz="1600" b="0">
                <a:solidFill>
                  <a:srgbClr val="48564D"/>
                </a:solidFill>
                <a:latin typeface="Segoe UI"/>
              </a:rPr>
              <a:t> — only manual CSV parsing is needed for classification.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600" b="1">
                <a:solidFill>
                  <a:srgbClr val="16211C"/>
                </a:solidFill>
                <a:latin typeface="Segoe UI"/>
              </a:rPr>
              <a:t>Real-time (CDC webhook) backups</a:t>
            </a:r>
            <a:r>
              <a:rPr sz="1600" b="0">
                <a:solidFill>
                  <a:srgbClr val="48564D"/>
                </a:solidFill>
                <a:latin typeface="Segoe UI"/>
              </a:rPr>
              <a:t> write </a:t>
            </a:r>
            <a:r>
              <a:rPr sz="1600" b="1">
                <a:solidFill>
                  <a:srgbClr val="16211C"/>
                </a:solidFill>
                <a:latin typeface="Segoe UI"/>
              </a:rPr>
              <a:t>JSON</a:t>
            </a:r>
            <a:r>
              <a:rPr sz="1600" b="0">
                <a:solidFill>
                  <a:srgbClr val="48564D"/>
                </a:solidFill>
                <a:latin typeface="Segoe UI"/>
              </a:rPr>
              <a:t> directly (</a:t>
            </a:r>
            <a:r>
              <a:rPr sz="1500">
                <a:solidFill>
                  <a:srgbClr val="2F6B59"/>
                </a:solidFill>
                <a:latin typeface="Consolas"/>
              </a:rPr>
              <a:t>Buffer.from(JSON.stringify(records))</a:t>
            </a:r>
            <a:r>
              <a:rPr sz="1600" b="0">
                <a:solidFill>
                  <a:srgbClr val="48564D"/>
                </a:solidFill>
                <a:latin typeface="Segoe UI"/>
              </a:rPr>
              <a:t>) — confirmed in </a:t>
            </a:r>
            <a:r>
              <a:rPr sz="1500">
                <a:solidFill>
                  <a:srgbClr val="2F6B59"/>
                </a:solidFill>
                <a:latin typeface="Consolas"/>
              </a:rPr>
              <a:t>services/third-party/salesforce/realtime/index.ts</a:t>
            </a:r>
            <a:r>
              <a:rPr sz="1600" b="0">
                <a:solidFill>
                  <a:srgbClr val="48564D"/>
                </a:solidFill>
                <a:latin typeface="Segoe UI"/>
              </a:rPr>
              <a:t>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600" b="1">
                <a:solidFill>
                  <a:srgbClr val="16211C"/>
                </a:solidFill>
                <a:latin typeface="Segoe UI"/>
              </a:rPr>
              <a:t>Restore</a:t>
            </a:r>
            <a:r>
              <a:rPr sz="1600" b="0">
                <a:solidFill>
                  <a:srgbClr val="48564D"/>
                </a:solidFill>
                <a:latin typeface="Segoe UI"/>
              </a:rPr>
              <a:t> is a two-stage pipeline spanning both repos: client-service submits an EMR job keyed by </a:t>
            </a:r>
            <a:r>
              <a:rPr sz="1500">
                <a:solidFill>
                  <a:srgbClr val="2F6B59"/>
                </a:solidFill>
                <a:latin typeface="Consolas"/>
              </a:rPr>
              <a:t>restoreConfigId</a:t>
            </a:r>
            <a:r>
              <a:rPr sz="1600" b="0">
                <a:solidFill>
                  <a:srgbClr val="48564D"/>
                </a:solidFill>
                <a:latin typeface="Segoe UI"/>
              </a:rPr>
              <a:t>; the Java/Spark app reconstructs records </a:t>
            </a:r>
            <a:r>
              <a:rPr sz="1600" b="1">
                <a:solidFill>
                  <a:srgbClr val="16211C"/>
                </a:solidFill>
                <a:latin typeface="Segoe UI"/>
              </a:rPr>
              <a:t>from the Hudi main + delta tables</a:t>
            </a:r>
            <a:r>
              <a:rPr sz="1600" b="0">
                <a:solidFill>
                  <a:srgbClr val="48564D"/>
                </a:solidFill>
                <a:latin typeface="Segoe UI"/>
              </a:rPr>
              <a:t> and writes a fresh CSV to </a:t>
            </a:r>
            <a:r>
              <a:rPr sz="1500">
                <a:solidFill>
                  <a:srgbClr val="2F6B59"/>
                </a:solidFill>
                <a:latin typeface="Consolas"/>
              </a:rPr>
              <a:t>restore/{restoreConfigId}/csv/{object}/restore.csv</a:t>
            </a:r>
            <a:r>
              <a:rPr sz="1600" b="0">
                <a:solidFill>
                  <a:srgbClr val="48564D"/>
                </a:solidFill>
                <a:latin typeface="Segoe UI"/>
              </a:rPr>
              <a:t>; backup-service streams that CSV for the Bulk API ingest into Salesforce.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08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5 · DIAGRAM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Update / Delta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48564D"/>
                </a:solidFill>
                <a:latin typeface="Segoe UI"/>
              </a:rPr>
              <a:t>"Delta" in this system means two related things, both traced to source: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47088"/>
            <a:ext cx="1118585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1.  </a:t>
            </a:r>
            <a:r>
              <a:rPr sz="1550" b="1">
                <a:solidFill>
                  <a:srgbClr val="16211C"/>
                </a:solidFill>
                <a:latin typeface="Segoe UI"/>
              </a:rPr>
              <a:t>Application-level delta (incremental sync window)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a plain SOQL date filter computed by backup-service per job.</a:t>
            </a:r>
          </a:p>
          <a:p>
            <a:pPr>
              <a:spcAft>
                <a:spcPts val="14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2.  </a:t>
            </a:r>
            <a:r>
              <a:rPr sz="1550" b="1">
                <a:solidFill>
                  <a:srgbClr val="16211C"/>
                </a:solidFill>
                <a:latin typeface="Segoe UI"/>
              </a:rPr>
              <a:t>Hudi "delta" table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a field-level change-log Hudi table (</a:t>
            </a:r>
            <a:r>
              <a:rPr sz="1450">
                <a:solidFill>
                  <a:srgbClr val="2F6B59"/>
                </a:solidFill>
                <a:latin typeface="Consolas"/>
              </a:rPr>
              <a:t>{object}_delta</a:t>
            </a:r>
            <a:r>
              <a:rPr sz="1550" b="0">
                <a:solidFill>
                  <a:srgbClr val="48564D"/>
                </a:solidFill>
                <a:latin typeface="Segoe UI"/>
              </a:rPr>
              <a:t>) maintained by the EMR Java/Spark job, record-keyed on </a:t>
            </a:r>
            <a:r>
              <a:rPr sz="1450">
                <a:solidFill>
                  <a:srgbClr val="2F6B59"/>
                </a:solidFill>
                <a:latin typeface="Consolas"/>
              </a:rPr>
              <a:t>delta_id = "{Id}|{LastModifiedDate}"</a:t>
            </a:r>
            <a:r>
              <a:rPr sz="1550" b="0">
                <a:solidFill>
                  <a:srgbClr val="48564D"/>
                </a:solidFill>
                <a:latin typeface="Segoe UI"/>
              </a:rPr>
              <a:t>. Separate from the current-state Hudi table (</a:t>
            </a:r>
            <a:r>
              <a:rPr sz="1450">
                <a:solidFill>
                  <a:srgbClr val="2F6B59"/>
                </a:solidFill>
                <a:latin typeface="Consolas"/>
              </a:rPr>
              <a:t>main_backup_files/</a:t>
            </a:r>
            <a:r>
              <a:rPr sz="1550" b="0">
                <a:solidFill>
                  <a:srgbClr val="48564D"/>
                </a:solidFill>
                <a:latin typeface="Segoe UI"/>
              </a:rPr>
              <a:t>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09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5 · DIAGRAM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Update / Delta — Hudi Write Mechanism  (1 of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3540373" y="1252728"/>
            <a:ext cx="5110948" cy="5330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540373" y="1252728"/>
            <a:ext cx="5110948" cy="5330952"/>
          </a:xfrm>
          <a:prstGeom prst="rect">
            <a:avLst/>
          </a:prstGeom>
          <a:noFill/>
          <a:ln w="9525">
            <a:solidFill>
              <a:srgbClr val="DD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out-4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813" y="1344168"/>
            <a:ext cx="4928068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5 · DIAGRAM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Update / Delta — Hudi Write Mechanism  (2 of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3541375" y="1252728"/>
            <a:ext cx="5108944" cy="5330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541375" y="1252728"/>
            <a:ext cx="5108944" cy="5330952"/>
          </a:xfrm>
          <a:prstGeom prst="rect">
            <a:avLst/>
          </a:prstGeom>
          <a:noFill/>
          <a:ln w="9525">
            <a:solidFill>
              <a:srgbClr val="DD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out-4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815" y="1344168"/>
            <a:ext cx="4926064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Update / Delta — Supporting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50" b="1">
                <a:solidFill>
                  <a:srgbClr val="9C6E2A"/>
                </a:solidFill>
                <a:latin typeface="Segoe UI"/>
              </a:rPr>
              <a:t>—  </a:t>
            </a:r>
            <a:r>
              <a:rPr sz="1450" b="1">
                <a:solidFill>
                  <a:srgbClr val="16211C"/>
                </a:solidFill>
                <a:latin typeface="Segoe UI"/>
              </a:rPr>
              <a:t>UNDELETE</a:t>
            </a:r>
            <a:r>
              <a:rPr sz="1450" b="0">
                <a:solidFill>
                  <a:srgbClr val="48564D"/>
                </a:solidFill>
                <a:latin typeface="Segoe UI"/>
              </a:rPr>
              <a:t> is folded into the same </a:t>
            </a:r>
            <a:r>
              <a:rPr sz="1350">
                <a:solidFill>
                  <a:srgbClr val="2F6B59"/>
                </a:solidFill>
                <a:latin typeface="Consolas"/>
              </a:rPr>
              <a:t>upsert</a:t>
            </a:r>
            <a:r>
              <a:rPr sz="1450" b="0">
                <a:solidFill>
                  <a:srgbClr val="48564D"/>
                </a:solidFill>
                <a:latin typeface="Segoe UI"/>
              </a:rPr>
              <a:t> as INSERT/UPDATE — a classification VersionChainService's chronological reconciliation produces, not a distinct Hudi write path.</a:t>
            </a:r>
          </a:p>
          <a:p>
            <a:pPr>
              <a:spcAft>
                <a:spcPts val="1400"/>
              </a:spcAft>
            </a:pPr>
            <a:r>
              <a:rPr sz="1450" b="1">
                <a:solidFill>
                  <a:srgbClr val="9C6E2A"/>
                </a:solidFill>
                <a:latin typeface="Segoe UI"/>
              </a:rPr>
              <a:t>—  </a:t>
            </a:r>
            <a:r>
              <a:rPr sz="1450" b="1">
                <a:solidFill>
                  <a:srgbClr val="16211C"/>
                </a:solidFill>
                <a:latin typeface="Segoe UI"/>
              </a:rPr>
              <a:t>Global-bloom + mutable-partition-path indexing</a:t>
            </a:r>
            <a:r>
              <a:rPr sz="1450" b="0">
                <a:solidFill>
                  <a:srgbClr val="48564D"/>
                </a:solidFill>
                <a:latin typeface="Segoe UI"/>
              </a:rPr>
              <a:t>: the main table's partition key (</a:t>
            </a:r>
            <a:r>
              <a:rPr sz="1350">
                <a:solidFill>
                  <a:srgbClr val="2F6B59"/>
                </a:solidFill>
                <a:latin typeface="Consolas"/>
              </a:rPr>
              <a:t>LastModifiedDate</a:t>
            </a:r>
            <a:r>
              <a:rPr sz="1450" b="0">
                <a:solidFill>
                  <a:srgbClr val="48564D"/>
                </a:solidFill>
                <a:latin typeface="Segoe UI"/>
              </a:rPr>
              <a:t>) changes on every update, so </a:t>
            </a:r>
            <a:r>
              <a:rPr sz="1350">
                <a:solidFill>
                  <a:srgbClr val="2F6B59"/>
                </a:solidFill>
                <a:latin typeface="Consolas"/>
              </a:rPr>
              <a:t>GLOBAL_BLOOM</a:t>
            </a:r>
            <a:r>
              <a:rPr sz="1450" b="0">
                <a:solidFill>
                  <a:srgbClr val="48564D"/>
                </a:solidFill>
                <a:latin typeface="Segoe UI"/>
              </a:rPr>
              <a:t> with </a:t>
            </a:r>
            <a:r>
              <a:rPr sz="1350">
                <a:solidFill>
                  <a:srgbClr val="2F6B59"/>
                </a:solidFill>
                <a:latin typeface="Consolas"/>
              </a:rPr>
              <a:t>hoodie.bloom.index.update.partition.path=true</a:t>
            </a:r>
            <a:r>
              <a:rPr sz="1450" b="0">
                <a:solidFill>
                  <a:srgbClr val="48564D"/>
                </a:solidFill>
                <a:latin typeface="Segoe UI"/>
              </a:rPr>
              <a:t> relocates the record instead of leaving a stale duplicate behind.</a:t>
            </a:r>
          </a:p>
          <a:p>
            <a:pPr>
              <a:spcAft>
                <a:spcPts val="1400"/>
              </a:spcAft>
            </a:pPr>
            <a:r>
              <a:rPr sz="1450" b="1">
                <a:solidFill>
                  <a:srgbClr val="9C6E2A"/>
                </a:solidFill>
                <a:latin typeface="Segoe UI"/>
              </a:rPr>
              <a:t>—  </a:t>
            </a:r>
            <a:r>
              <a:rPr sz="1450" b="1">
                <a:solidFill>
                  <a:srgbClr val="16211C"/>
                </a:solidFill>
                <a:latin typeface="Segoe UI"/>
              </a:rPr>
              <a:t>Cascade delete</a:t>
            </a:r>
            <a:r>
              <a:rPr sz="1450" b="0">
                <a:solidFill>
                  <a:srgbClr val="48564D"/>
                </a:solidFill>
                <a:latin typeface="Segoe UI"/>
              </a:rPr>
              <a:t> (REALTIME only — </a:t>
            </a:r>
            <a:r>
              <a:rPr sz="1350">
                <a:solidFill>
                  <a:srgbClr val="2F6B59"/>
                </a:solidFill>
                <a:latin typeface="Consolas"/>
              </a:rPr>
              <a:t>CascadeDeleteService</a:t>
            </a:r>
            <a:r>
              <a:rPr sz="1450" b="0">
                <a:solidFill>
                  <a:srgbClr val="48564D"/>
                </a:solidFill>
                <a:latin typeface="Segoe UI"/>
              </a:rPr>
              <a:t>): a deleted parent either hard-deletes matching children or nullifies their lookup field, per an </a:t>
            </a:r>
            <a:r>
              <a:rPr sz="1350">
                <a:solidFill>
                  <a:srgbClr val="2F6B59"/>
                </a:solidFill>
                <a:latin typeface="Consolas"/>
              </a:rPr>
              <a:t>isCascadeDelete</a:t>
            </a:r>
            <a:r>
              <a:rPr sz="1450" b="0">
                <a:solidFill>
                  <a:srgbClr val="48564D"/>
                </a:solidFill>
                <a:latin typeface="Segoe UI"/>
              </a:rPr>
              <a:t> flag on the relationship.</a:t>
            </a:r>
          </a:p>
          <a:p>
            <a:pPr>
              <a:spcAft>
                <a:spcPts val="1400"/>
              </a:spcAft>
            </a:pPr>
            <a:r>
              <a:rPr sz="1450" b="1">
                <a:solidFill>
                  <a:srgbClr val="9C6E2A"/>
                </a:solidFill>
                <a:latin typeface="Segoe UI"/>
              </a:rPr>
              <a:t>—  </a:t>
            </a:r>
            <a:r>
              <a:rPr sz="1450" b="1">
                <a:solidFill>
                  <a:srgbClr val="16211C"/>
                </a:solidFill>
                <a:latin typeface="Segoe UI"/>
              </a:rPr>
              <a:t>Archival flow</a:t>
            </a:r>
            <a:r>
              <a:rPr sz="1450" b="0">
                <a:solidFill>
                  <a:srgbClr val="48564D"/>
                </a:solidFill>
                <a:latin typeface="Segoe UI"/>
              </a:rPr>
              <a:t> differs on both sides: Node Phase 2 hard-deletes purged records from the live org; the Java side has no delta table at all — only inserts + schema-change operations, partitioned by </a:t>
            </a:r>
            <a:r>
              <a:rPr sz="1350">
                <a:solidFill>
                  <a:srgbClr val="2F6B59"/>
                </a:solidFill>
                <a:latin typeface="Consolas"/>
              </a:rPr>
              <a:t>CreatedDate</a:t>
            </a:r>
            <a:r>
              <a:rPr sz="1450" b="0">
                <a:solidFill>
                  <a:srgbClr val="48564D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CSV vs JSON Processing  (1 of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2695" y="1252728"/>
            <a:ext cx="4326305" cy="5330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32695" y="1252728"/>
            <a:ext cx="4326305" cy="5330952"/>
          </a:xfrm>
          <a:prstGeom prst="rect">
            <a:avLst/>
          </a:prstGeom>
          <a:noFill/>
          <a:ln w="9525">
            <a:solidFill>
              <a:srgbClr val="DD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out-5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135" y="1344168"/>
            <a:ext cx="4143425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13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CSV vs JSON Processing  (2 of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3492" y="1252728"/>
            <a:ext cx="4324710" cy="5330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33492" y="1252728"/>
            <a:ext cx="4324710" cy="5330952"/>
          </a:xfrm>
          <a:prstGeom prst="rect">
            <a:avLst/>
          </a:prstGeom>
          <a:noFill/>
          <a:ln w="9525">
            <a:solidFill>
              <a:srgbClr val="DD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out-5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932" y="1344168"/>
            <a:ext cx="4141830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14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CSV vs JSON — How They Converge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18488"/>
            <a:ext cx="1118585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48564D"/>
                </a:solidFill>
                <a:latin typeface="Segoe UI"/>
              </a:rPr>
              <a:t>They </a:t>
            </a:r>
            <a:r>
              <a:rPr sz="1700" b="1">
                <a:solidFill>
                  <a:srgbClr val="16211C"/>
                </a:solidFill>
                <a:latin typeface="Segoe UI"/>
              </a:rPr>
              <a:t>converge</a:t>
            </a:r>
            <a:r>
              <a:rPr sz="1700" b="0">
                <a:solidFill>
                  <a:srgbClr val="48564D"/>
                </a:solidFill>
                <a:latin typeface="Segoe UI"/>
              </a:rPr>
              <a:t> at the EMR Serverless Java/Spark job, which reads both </a:t>
            </a:r>
            <a:r>
              <a:rPr sz="1600">
                <a:solidFill>
                  <a:srgbClr val="2F6B59"/>
                </a:solidFill>
                <a:latin typeface="Consolas"/>
              </a:rPr>
              <a:t>raw_data</a:t>
            </a:r>
            <a:r>
              <a:rPr sz="1700" b="0">
                <a:solidFill>
                  <a:srgbClr val="48564D"/>
                </a:solidFill>
                <a:latin typeface="Segoe UI"/>
              </a:rPr>
              <a:t> trees directly. JSON updates are not unioned with CSV rows as-is: they carry a sparse </a:t>
            </a:r>
            <a:r>
              <a:rPr sz="1600">
                <a:solidFill>
                  <a:srgbClr val="2F6B59"/>
                </a:solidFill>
                <a:latin typeface="Consolas"/>
              </a:rPr>
              <a:t>{Id, LastModifiedDate, prev, new}</a:t>
            </a:r>
            <a:r>
              <a:rPr sz="1700" b="0">
                <a:solidFill>
                  <a:srgbClr val="48564D"/>
                </a:solidFill>
                <a:latin typeface="Segoe UI"/>
              </a:rPr>
              <a:t> shape (only changed fields; explicit-null vs. absent-key is distinguished via an explicit map schema) and are reconciled against existing Hudi state by </a:t>
            </a:r>
            <a:r>
              <a:rPr sz="1600">
                <a:solidFill>
                  <a:srgbClr val="2F6B59"/>
                </a:solidFill>
                <a:latin typeface="Consolas"/>
              </a:rPr>
              <a:t>VersionChainService</a:t>
            </a:r>
            <a:r>
              <a:rPr sz="1700" b="0">
                <a:solidFill>
                  <a:srgbClr val="48564D"/>
                </a:solidFill>
                <a:latin typeface="Segoe UI"/>
              </a:rPr>
              <a:t> before being merged into the main-table upsert. Restore, once triggered, reads the already-reconciled </a:t>
            </a:r>
            <a:r>
              <a:rPr sz="1700" b="1">
                <a:solidFill>
                  <a:srgbClr val="16211C"/>
                </a:solidFill>
                <a:latin typeface="Segoe UI"/>
              </a:rPr>
              <a:t>Hudi</a:t>
            </a:r>
            <a:r>
              <a:rPr sz="1700" b="0">
                <a:solidFill>
                  <a:srgbClr val="48564D"/>
                </a:solidFill>
                <a:latin typeface="Segoe UI"/>
              </a:rPr>
              <a:t> tables.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15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7 · DIAGRAM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Security &amp;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7698" y="1252728"/>
            <a:ext cx="10996298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7698" y="1252728"/>
            <a:ext cx="10996298" cy="2651760"/>
          </a:xfrm>
          <a:prstGeom prst="rect">
            <a:avLst/>
          </a:prstGeom>
          <a:noFill/>
          <a:ln w="9525">
            <a:solidFill>
              <a:srgbClr val="DD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out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38" y="1344168"/>
            <a:ext cx="10813418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977640"/>
            <a:ext cx="11185855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300" b="1">
                <a:solidFill>
                  <a:srgbClr val="16211C"/>
                </a:solidFill>
                <a:latin typeface="Segoe UI"/>
              </a:rPr>
              <a:t>Salesforce OAuth</a:t>
            </a:r>
            <a:r>
              <a:rPr sz="1300" b="0">
                <a:solidFill>
                  <a:srgbClr val="48564D"/>
                </a:solidFill>
                <a:latin typeface="Segoe UI"/>
              </a:rPr>
              <a:t>: PKCE authorization-code flow; state + code verifier persisted in DynamoDB with a 10-minute TTL. Tokens are AES-256-CBC encrypted before persisting.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300" b="1">
                <a:solidFill>
                  <a:srgbClr val="16211C"/>
                </a:solidFill>
                <a:latin typeface="Segoe UI"/>
              </a:rPr>
              <a:t>ECA provisioning</a:t>
            </a:r>
            <a:r>
              <a:rPr sz="1300" b="0">
                <a:solidFill>
                  <a:srgbClr val="48564D"/>
                </a:solidFill>
                <a:latin typeface="Segoe UI"/>
              </a:rPr>
              <a:t>: deploys a PermissionSet + policy metadata against a pre-packaged External Client App via the SOAP Metadata API, then assigns the admin user via a custom Apex REST callout.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300" b="1">
                <a:solidFill>
                  <a:srgbClr val="16211C"/>
                </a:solidFill>
                <a:latin typeface="Segoe UI"/>
              </a:rPr>
              <a:t>Inter-service auth</a:t>
            </a:r>
            <a:r>
              <a:rPr sz="1300" b="0">
                <a:solidFill>
                  <a:srgbClr val="48564D"/>
                </a:solidFill>
                <a:latin typeface="Segoe UI"/>
              </a:rPr>
              <a:t>: a shared-secret header compared with </a:t>
            </a:r>
            <a:r>
              <a:rPr sz="1200">
                <a:solidFill>
                  <a:srgbClr val="2F6B59"/>
                </a:solidFill>
                <a:latin typeface="Consolas"/>
              </a:rPr>
              <a:t>crypto.timingSafeEqual</a:t>
            </a:r>
            <a:r>
              <a:rPr sz="1300" b="0">
                <a:solidFill>
                  <a:srgbClr val="48564D"/>
                </a:solidFill>
                <a:latin typeface="Segoe UI"/>
              </a:rPr>
              <a:t> — symmetric, gating </a:t>
            </a:r>
            <a:r>
              <a:rPr sz="1200">
                <a:solidFill>
                  <a:srgbClr val="2F6B59"/>
                </a:solidFill>
                <a:latin typeface="Consolas"/>
              </a:rPr>
              <a:t>/internal/*</a:t>
            </a:r>
            <a:r>
              <a:rPr sz="1300" b="0">
                <a:solidFill>
                  <a:srgbClr val="48564D"/>
                </a:solidFill>
                <a:latin typeface="Segoe UI"/>
              </a:rPr>
              <a:t> and all of backup-service's </a:t>
            </a:r>
            <a:r>
              <a:rPr sz="1200">
                <a:solidFill>
                  <a:srgbClr val="2F6B59"/>
                </a:solidFill>
                <a:latin typeface="Consolas"/>
              </a:rPr>
              <a:t>/v1/*</a:t>
            </a:r>
            <a:r>
              <a:rPr sz="1300" b="0">
                <a:solidFill>
                  <a:srgbClr val="48564D"/>
                </a:solidFill>
                <a:latin typeface="Segoe UI"/>
              </a:rPr>
              <a:t> routes.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300" b="1">
                <a:solidFill>
                  <a:srgbClr val="16211C"/>
                </a:solidFill>
                <a:latin typeface="Segoe UI"/>
              </a:rPr>
              <a:t>IAM</a:t>
            </a:r>
            <a:r>
              <a:rPr sz="1300" b="0">
                <a:solidFill>
                  <a:srgbClr val="48564D"/>
                </a:solidFill>
                <a:latin typeface="Segoe UI"/>
              </a:rPr>
              <a:t>: two distinct roles (EC2 instance role, ECS task role), each scoped to the specific AWS actions that service calls.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Infrastructure Boundaries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501129"/>
              </p:ext>
            </p:extLst>
          </p:nvPr>
        </p:nvGraphicFramePr>
        <p:xfrm>
          <a:off x="502920" y="1527048"/>
          <a:ext cx="1118311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1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Segoe UI"/>
                        </a:rPr>
                        <a:t>Boundary</a:t>
                      </a:r>
                    </a:p>
                  </a:txBody>
                  <a:tcPr marL="76200" marR="76200" marT="38100" marB="38100" anchor="ctr">
                    <a:solidFill>
                      <a:srgbClr val="2F6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76200" marR="76200" marT="38100" marB="38100" anchor="ctr">
                    <a:solidFill>
                      <a:srgbClr val="2F6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8564D"/>
                          </a:solidFill>
                          <a:latin typeface="Segoe UI"/>
                        </a:rPr>
                        <a:t>Salesforce org (external system)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8564D"/>
                          </a:solidFill>
                          <a:latin typeface="Segoe UI"/>
                        </a:rPr>
                        <a:t>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8564D"/>
                          </a:solidFill>
                          <a:latin typeface="Segoe UI"/>
                        </a:rPr>
                        <a:t>AWS Account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48564D"/>
                          </a:solidFill>
                          <a:latin typeface="Segoe UI"/>
                        </a:rPr>
                        <a:t>Confirmed — region us-east-2</a:t>
                      </a:r>
                      <a:r>
                        <a:rPr lang="en-IN" sz="1300" b="0">
                          <a:solidFill>
                            <a:srgbClr val="48564D"/>
                          </a:solidFill>
                          <a:latin typeface="Segoe UI"/>
                        </a:rPr>
                        <a:t>.</a:t>
                      </a:r>
                      <a:endParaRPr sz="1300" b="0" dirty="0">
                        <a:solidFill>
                          <a:srgbClr val="48564D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8564D"/>
                          </a:solidFill>
                          <a:latin typeface="Segoe UI"/>
                        </a:rPr>
                        <a:t>EC2 (client-service host)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8564D"/>
                          </a:solidFill>
                          <a:latin typeface="Segoe UI"/>
                        </a:rPr>
                        <a:t>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8564D"/>
                          </a:solidFill>
                          <a:latin typeface="Segoe UI"/>
                        </a:rPr>
                        <a:t>ECS Fargate (backup-service)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8564D"/>
                          </a:solidFill>
                          <a:latin typeface="Segoe UI"/>
                        </a:rPr>
                        <a:t>Confirmed — awsvpc networking, task has its own public IP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8564D"/>
                          </a:solidFill>
                          <a:latin typeface="Segoe UI"/>
                        </a:rPr>
                        <a:t>S3, Glue, EMR Serverless, DynamoDB, EventBridge Scheduler, Athena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8564D"/>
                          </a:solidFill>
                          <a:latin typeface="Segoe UI"/>
                        </a:rPr>
                        <a:t>Confirmed via SDK client instantiation in source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17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Failure &amp; Retry Paths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2851738" y="1252728"/>
            <a:ext cx="6488218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51738" y="1252728"/>
            <a:ext cx="6488218" cy="4389120"/>
          </a:xfrm>
          <a:prstGeom prst="rect">
            <a:avLst/>
          </a:prstGeom>
          <a:noFill/>
          <a:ln w="9525">
            <a:solidFill>
              <a:srgbClr val="DD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out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178" y="1344168"/>
            <a:ext cx="6305338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715000"/>
            <a:ext cx="111858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48564D"/>
                </a:solidFill>
                <a:latin typeface="Segoe UI"/>
              </a:rPr>
              <a:t>Glue writes rely on catching </a:t>
            </a:r>
            <a:r>
              <a:rPr sz="1250">
                <a:solidFill>
                  <a:srgbClr val="2F6B59"/>
                </a:solidFill>
                <a:latin typeface="Consolas"/>
              </a:rPr>
              <a:t>AlreadyExistsException</a:t>
            </a:r>
            <a:r>
              <a:rPr sz="1350" b="0">
                <a:solidFill>
                  <a:srgbClr val="48564D"/>
                </a:solidFill>
                <a:latin typeface="Segoe UI"/>
              </a:rPr>
              <a:t> for idempotency, alongside the AWS SDK's own default retry behavior.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Service Responsibility Matrix  (1 of 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81328"/>
          <a:ext cx="1118311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L="76200" marR="76200" marT="38100" marB="38100" anchor="ctr">
                    <a:solidFill>
                      <a:srgbClr val="2F6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Deployment</a:t>
                      </a:r>
                    </a:p>
                  </a:txBody>
                  <a:tcPr marL="76200" marR="76200" marT="38100" marB="38100" anchor="ctr">
                    <a:solidFill>
                      <a:srgbClr val="2F6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Responsibility</a:t>
                      </a:r>
                    </a:p>
                  </a:txBody>
                  <a:tcPr marL="76200" marR="76200" marT="38100" marB="38100" anchor="ctr">
                    <a:solidFill>
                      <a:srgbClr val="2F6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Why Used</a:t>
                      </a:r>
                    </a:p>
                  </a:txBody>
                  <a:tcPr marL="76200" marR="76200" marT="38100" marB="38100" anchor="ctr">
                    <a:solidFill>
                      <a:srgbClr val="2F6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Communicates With</a:t>
                      </a:r>
                    </a:p>
                  </a:txBody>
                  <a:tcPr marL="76200" marR="76200" marT="38100" marB="38100" anchor="ctr">
                    <a:solidFill>
                      <a:srgbClr val="2F6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Salesforce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External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System of record for CRM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Source system being backed 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client-service, backup-service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client-service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EC2 (PM2, nginx)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Auth, RBAC, OAuth/ECA, config CRUD, EMR submission, Athena preview, scheduling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Long-lived stateful process suits PM2/EC2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Salesforce, backup-service, DynamoDB, S3, Athena, EMR, EventBridge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backup-service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ECS Fargate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Backup/archival/restore execution, Bulk extraction, staging, Glue registration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Stateless, horizontally-scalable worker workload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Salesforce, client-service, DynamoDB, S3, Glue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DynamoDB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AWS (regional)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Config, job, session, metadata storage — 14 tables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Serverless key-value store; PAY_PER_REQUEST avoids capacity planning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client-service (13), backup-service (6)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S3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AWS (regional)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Raw CSV/JSON, Hudi/Delta Parquet, schema JSON, rotated logs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Durable, cheap substrate for a Hudi data lake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backup-service, EMR Spark job, Glue, client-service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19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Service Responsibility Matrix  (2 of 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81328"/>
          <a:ext cx="1118311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L="76200" marR="76200" marT="38100" marB="38100" anchor="ctr">
                    <a:solidFill>
                      <a:srgbClr val="2F6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Deployment</a:t>
                      </a:r>
                    </a:p>
                  </a:txBody>
                  <a:tcPr marL="76200" marR="76200" marT="38100" marB="38100" anchor="ctr">
                    <a:solidFill>
                      <a:srgbClr val="2F6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Responsibility</a:t>
                      </a:r>
                    </a:p>
                  </a:txBody>
                  <a:tcPr marL="76200" marR="76200" marT="38100" marB="38100" anchor="ctr">
                    <a:solidFill>
                      <a:srgbClr val="2F6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Why Used</a:t>
                      </a:r>
                    </a:p>
                  </a:txBody>
                  <a:tcPr marL="76200" marR="76200" marT="38100" marB="38100" anchor="ctr">
                    <a:solidFill>
                      <a:srgbClr val="2F6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Communicates With</a:t>
                      </a:r>
                    </a:p>
                  </a:txBody>
                  <a:tcPr marL="76200" marR="76200" marT="38100" marB="38100" anchor="ctr">
                    <a:solidFill>
                      <a:srgbClr val="2F6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AWS Glue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AWS (regional)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Data Catalog only — table/partition metadata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Lets Athena discover schema/partitions without a hand-maintained metastore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backup-service (writes), Athena (reads)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AWS EMR Serverless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AWS (regional)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Runs the Java/Spark job that performs Hudi upsert/compaction and restore reconstruction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Serverless avoids managing a persistent cluster for bursty, job-triggered work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client-service, S3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EMR Java/Spark app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EMR Serverless (sibling repo)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Hudi writes, delta generation, schema evolution, cascade delete, restore reconstruction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Distributed Copy-on-Write Hudi merges at org scale, own JVM/Spark runtime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client-service, S3, Glue (indirect)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Athena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AWS (regional)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Ad-hoc SQL over Glue-cataloged Hudi/Delta tables for restore-preview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Serverless query engine — no dedicated database needed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client-service, Glue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EventBridge Scheduler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AWS (regional)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Recurring invocation of scheduled backup configs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Managed cron replacement that survives EC2 restarts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8564D"/>
                          </a:solidFill>
                          <a:latin typeface="Segoe UI"/>
                        </a:rPr>
                        <a:t>client-service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11 · TRIGGER → PROCESSING → STORAGE →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Flow A — Scheduled (Cron-Driven)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1.  </a:t>
            </a:r>
            <a:r>
              <a:rPr sz="1550" b="1">
                <a:solidFill>
                  <a:srgbClr val="16211C"/>
                </a:solidFill>
                <a:latin typeface="Segoe UI"/>
              </a:rPr>
              <a:t>Trigger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</a:t>
            </a:r>
            <a:r>
              <a:rPr sz="1450">
                <a:solidFill>
                  <a:srgbClr val="2F6B59"/>
                </a:solidFill>
                <a:latin typeface="Consolas"/>
              </a:rPr>
              <a:t>jobs/backup-config-cron.ts</a:t>
            </a:r>
            <a:r>
              <a:rPr sz="1550" b="0">
                <a:solidFill>
                  <a:srgbClr val="48564D"/>
                </a:solidFill>
                <a:latin typeface="Segoe UI"/>
              </a:rPr>
              <a:t> fires every 5 minutes, finds due backup-configs, skips any with an active job.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2.  </a:t>
            </a:r>
            <a:r>
              <a:rPr sz="1550" b="1">
                <a:solidFill>
                  <a:srgbClr val="16211C"/>
                </a:solidFill>
                <a:latin typeface="Segoe UI"/>
              </a:rPr>
              <a:t>Processing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client-service calls </a:t>
            </a:r>
            <a:r>
              <a:rPr sz="1450">
                <a:solidFill>
                  <a:srgbClr val="2F6B59"/>
                </a:solidFill>
                <a:latin typeface="Consolas"/>
              </a:rPr>
              <a:t>POST /v1/backup-job</a:t>
            </a:r>
            <a:r>
              <a:rPr sz="1550" b="0">
                <a:solidFill>
                  <a:srgbClr val="48564D"/>
                </a:solidFill>
                <a:latin typeface="Segoe UI"/>
              </a:rPr>
              <a:t>; backup-service runs </a:t>
            </a:r>
            <a:r>
              <a:rPr sz="1450">
                <a:solidFill>
                  <a:srgbClr val="2F6B59"/>
                </a:solidFill>
                <a:latin typeface="Consolas"/>
              </a:rPr>
              <a:t>exportFirstTime</a:t>
            </a:r>
            <a:r>
              <a:rPr sz="1550" b="0">
                <a:solidFill>
                  <a:srgbClr val="48564D"/>
                </a:solidFill>
                <a:latin typeface="Segoe UI"/>
              </a:rPr>
              <a:t>/</a:t>
            </a:r>
            <a:r>
              <a:rPr sz="1450">
                <a:solidFill>
                  <a:srgbClr val="2F6B59"/>
                </a:solidFill>
                <a:latin typeface="Consolas"/>
              </a:rPr>
              <a:t>exportIncremental</a:t>
            </a:r>
            <a:r>
              <a:rPr sz="1550" b="0">
                <a:solidFill>
                  <a:srgbClr val="48564D"/>
                </a:solidFill>
                <a:latin typeface="Segoe UI"/>
              </a:rPr>
              <a:t> against Bulk API 2.0 and classifies each row.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3.  </a:t>
            </a:r>
            <a:r>
              <a:rPr sz="1550" b="1">
                <a:solidFill>
                  <a:srgbClr val="16211C"/>
                </a:solidFill>
                <a:latin typeface="Segoe UI"/>
              </a:rPr>
              <a:t>Storage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classified CSV pages land in S3 under </a:t>
            </a:r>
            <a:r>
              <a:rPr sz="1450">
                <a:solidFill>
                  <a:srgbClr val="2F6B59"/>
                </a:solidFill>
                <a:latin typeface="Consolas"/>
              </a:rPr>
              <a:t>raw_data/{backupJobId}/{object}/{op}/</a:t>
            </a:r>
            <a:r>
              <a:rPr sz="1550" b="0">
                <a:solidFill>
                  <a:srgbClr val="48564D"/>
                </a:solidFill>
                <a:latin typeface="Segoe UI"/>
              </a:rPr>
              <a:t>.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4.  </a:t>
            </a:r>
            <a:r>
              <a:rPr sz="1550" b="1">
                <a:solidFill>
                  <a:srgbClr val="16211C"/>
                </a:solidFill>
                <a:latin typeface="Segoe UI"/>
              </a:rPr>
              <a:t>Result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client-service submits an EMR Spark job that turns raw CSV into Hudi/Delta Parquet; backup-service registers the result in Glue.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21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11 · TRIGGER → PROCESSING → STORAGE →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Flow B — Real-Time (Salesforce CDC Webhook)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1.  </a:t>
            </a:r>
            <a:r>
              <a:rPr sz="1550" b="1">
                <a:solidFill>
                  <a:srgbClr val="16211C"/>
                </a:solidFill>
                <a:latin typeface="Segoe UI"/>
              </a:rPr>
              <a:t>Trigger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Salesforce fires a webhook that client-service's </a:t>
            </a:r>
            <a:r>
              <a:rPr sz="1450">
                <a:solidFill>
                  <a:srgbClr val="2F6B59"/>
                </a:solidFill>
                <a:latin typeface="Consolas"/>
              </a:rPr>
              <a:t>attachDecryptedSalesforceRequest</a:t>
            </a:r>
            <a:r>
              <a:rPr sz="1550" b="0">
                <a:solidFill>
                  <a:srgbClr val="48564D"/>
                </a:solidFill>
                <a:latin typeface="Segoe UI"/>
              </a:rPr>
              <a:t> middleware decrypts and validates.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2.  </a:t>
            </a:r>
            <a:r>
              <a:rPr sz="1550" b="1">
                <a:solidFill>
                  <a:srgbClr val="16211C"/>
                </a:solidFill>
                <a:latin typeface="Segoe UI"/>
              </a:rPr>
              <a:t>Processing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</a:t>
            </a:r>
            <a:r>
              <a:rPr sz="1450">
                <a:solidFill>
                  <a:srgbClr val="2F6B59"/>
                </a:solidFill>
                <a:latin typeface="Consolas"/>
              </a:rPr>
              <a:t>processRealtimeWebhook</a:t>
            </a:r>
            <a:r>
              <a:rPr sz="1550" b="0">
                <a:solidFill>
                  <a:srgbClr val="48564D"/>
                </a:solidFill>
                <a:latin typeface="Segoe UI"/>
              </a:rPr>
              <a:t> fans out one </a:t>
            </a:r>
            <a:r>
              <a:rPr sz="1450">
                <a:solidFill>
                  <a:srgbClr val="2F6B59"/>
                </a:solidFill>
                <a:latin typeface="Consolas"/>
              </a:rPr>
              <a:t>POST /v1/realtime-backup</a:t>
            </a:r>
            <a:r>
              <a:rPr sz="1550" b="0">
                <a:solidFill>
                  <a:srgbClr val="48564D"/>
                </a:solidFill>
                <a:latin typeface="Segoe UI"/>
              </a:rPr>
              <a:t> call per matching REALTIME-schedule backup-config.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3.  </a:t>
            </a:r>
            <a:r>
              <a:rPr sz="1550" b="1">
                <a:solidFill>
                  <a:srgbClr val="16211C"/>
                </a:solidFill>
                <a:latin typeface="Segoe UI"/>
              </a:rPr>
              <a:t>Storage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backup-service writes the CDC payload directly as JSON to </a:t>
            </a:r>
            <a:r>
              <a:rPr sz="1450">
                <a:solidFill>
                  <a:srgbClr val="2F6B59"/>
                </a:solidFill>
                <a:latin typeface="Consolas"/>
              </a:rPr>
              <a:t>raw_data/{backupJobId}/{object}/{op}/*.json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no Bulk API round-trip.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4.  </a:t>
            </a:r>
            <a:r>
              <a:rPr sz="1550" b="1">
                <a:solidFill>
                  <a:srgbClr val="16211C"/>
                </a:solidFill>
                <a:latin typeface="Segoe UI"/>
              </a:rPr>
              <a:t>Result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same downstream Spark/Glue path as the scheduled flow; because Hudi merges both CSV and JSON sources, this data is fully available the next time a restore reads Hudi.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11 · TRIGGER → PROCESSING → STORAGE →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Flow C — Archival Backup (Backup-Then-Purge)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1.  </a:t>
            </a:r>
            <a:r>
              <a:rPr sz="1550" b="1">
                <a:solidFill>
                  <a:srgbClr val="16211C"/>
                </a:solidFill>
                <a:latin typeface="Segoe UI"/>
              </a:rPr>
              <a:t>Trigger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same as scheduled, via </a:t>
            </a:r>
            <a:r>
              <a:rPr sz="1450">
                <a:solidFill>
                  <a:srgbClr val="2F6B59"/>
                </a:solidFill>
                <a:latin typeface="Consolas"/>
              </a:rPr>
              <a:t>/v1/backup-job/archival</a:t>
            </a:r>
            <a:r>
              <a:rPr sz="1550" b="0">
                <a:solidFill>
                  <a:srgbClr val="48564D"/>
                </a:solidFill>
                <a:latin typeface="Segoe UI"/>
              </a:rPr>
              <a:t>.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2.  </a:t>
            </a:r>
            <a:r>
              <a:rPr sz="1550" b="1">
                <a:solidFill>
                  <a:srgbClr val="16211C"/>
                </a:solidFill>
                <a:latin typeface="Segoe UI"/>
              </a:rPr>
              <a:t>Processing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Phase 1 exports matching records exactly like a normal backup; Phase 2 issues a Salesforce Bulk API </a:t>
            </a:r>
            <a:r>
              <a:rPr sz="1550" b="1">
                <a:solidFill>
                  <a:srgbClr val="16211C"/>
                </a:solidFill>
                <a:latin typeface="Segoe UI"/>
              </a:rPr>
              <a:t>delete</a:t>
            </a:r>
            <a:r>
              <a:rPr sz="1550" b="0">
                <a:solidFill>
                  <a:srgbClr val="48564D"/>
                </a:solidFill>
                <a:latin typeface="Segoe UI"/>
              </a:rPr>
              <a:t> job against the same record set.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3.  </a:t>
            </a:r>
            <a:r>
              <a:rPr sz="1550" b="1">
                <a:solidFill>
                  <a:srgbClr val="16211C"/>
                </a:solidFill>
                <a:latin typeface="Segoe UI"/>
              </a:rPr>
              <a:t>Storage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export lands in S3 identically to a normal backup; deletion failures are logged to </a:t>
            </a:r>
            <a:r>
              <a:rPr sz="1450">
                <a:solidFill>
                  <a:srgbClr val="2F6B59"/>
                </a:solidFill>
                <a:latin typeface="Consolas"/>
              </a:rPr>
              <a:t>error_logs/{backupJobId}/{object}/{objectId}</a:t>
            </a:r>
            <a:r>
              <a:rPr sz="1550" b="0">
                <a:solidFill>
                  <a:srgbClr val="48564D"/>
                </a:solidFill>
                <a:latin typeface="Segoe UI"/>
              </a:rPr>
              <a:t>.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4.  </a:t>
            </a:r>
            <a:r>
              <a:rPr sz="1550" b="1">
                <a:solidFill>
                  <a:srgbClr val="16211C"/>
                </a:solidFill>
                <a:latin typeface="Segoe UI"/>
              </a:rPr>
              <a:t>Result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the org's live data is purged while the archived copy is retained in the data lake.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23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11 · TRIGGER → PROCESSING → STORAGE →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Flow D — 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1.  </a:t>
            </a:r>
            <a:r>
              <a:rPr sz="1550" b="1">
                <a:solidFill>
                  <a:srgbClr val="16211C"/>
                </a:solidFill>
                <a:latin typeface="Segoe UI"/>
              </a:rPr>
              <a:t>Trigger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user selects records via the Athena-backed restore-preview UI, then </a:t>
            </a:r>
            <a:r>
              <a:rPr sz="1450">
                <a:solidFill>
                  <a:srgbClr val="2F6B59"/>
                </a:solidFill>
                <a:latin typeface="Consolas"/>
              </a:rPr>
              <a:t>POST /v1/restore-retrieve</a:t>
            </a:r>
            <a:r>
              <a:rPr sz="1550" b="0">
                <a:solidFill>
                  <a:srgbClr val="48564D"/>
                </a:solidFill>
                <a:latin typeface="Segoe UI"/>
              </a:rPr>
              <a:t>, which calls </a:t>
            </a:r>
            <a:r>
              <a:rPr sz="1450">
                <a:solidFill>
                  <a:srgbClr val="2F6B59"/>
                </a:solidFill>
                <a:latin typeface="Consolas"/>
              </a:rPr>
              <a:t>createRestoreJob</a:t>
            </a:r>
            <a:r>
              <a:rPr sz="1550" b="0">
                <a:solidFill>
                  <a:srgbClr val="48564D"/>
                </a:solidFill>
                <a:latin typeface="Segoe UI"/>
              </a:rPr>
              <a:t> then </a:t>
            </a:r>
            <a:r>
              <a:rPr sz="1450">
                <a:solidFill>
                  <a:srgbClr val="2F6B59"/>
                </a:solidFill>
                <a:latin typeface="Consolas"/>
              </a:rPr>
              <a:t>initalizeRestoreTransform</a:t>
            </a:r>
            <a:r>
              <a:rPr sz="1550" b="0">
                <a:solidFill>
                  <a:srgbClr val="48564D"/>
                </a:solidFill>
                <a:latin typeface="Segoe UI"/>
              </a:rPr>
              <a:t>.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2.  </a:t>
            </a:r>
            <a:r>
              <a:rPr sz="1550" b="1">
                <a:solidFill>
                  <a:srgbClr val="16211C"/>
                </a:solidFill>
                <a:latin typeface="Segoe UI"/>
              </a:rPr>
              <a:t>EMR/Hudi reconstruction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the Java/Spark app fetches the full restore config, compresses any un-merged backup data into Hudi, then reads the </a:t>
            </a:r>
            <a:r>
              <a:rPr sz="1550" b="1">
                <a:solidFill>
                  <a:srgbClr val="16211C"/>
                </a:solidFill>
                <a:latin typeface="Segoe UI"/>
              </a:rPr>
              <a:t>Hudi main + delta tables</a:t>
            </a:r>
            <a:r>
              <a:rPr sz="1550" b="0">
                <a:solidFill>
                  <a:srgbClr val="48564D"/>
                </a:solidFill>
                <a:latin typeface="Segoe UI"/>
              </a:rPr>
              <a:t> and reconstructs the requested records per </a:t>
            </a:r>
            <a:r>
              <a:rPr sz="1450">
                <a:solidFill>
                  <a:srgbClr val="2F6B59"/>
                </a:solidFill>
                <a:latin typeface="Consolas"/>
              </a:rPr>
              <a:t>RestoreConfigs.SourceType</a:t>
            </a:r>
            <a:r>
              <a:rPr sz="1550" b="0">
                <a:solidFill>
                  <a:srgbClr val="48564D"/>
                </a:solidFill>
                <a:latin typeface="Segoe UI"/>
              </a:rPr>
              <a:t>.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3.  </a:t>
            </a:r>
            <a:r>
              <a:rPr sz="1550" b="1">
                <a:solidFill>
                  <a:srgbClr val="16211C"/>
                </a:solidFill>
                <a:latin typeface="Segoe UI"/>
              </a:rPr>
              <a:t>Handoff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the Java app writes reconstructed rows to </a:t>
            </a:r>
            <a:r>
              <a:rPr sz="1450">
                <a:solidFill>
                  <a:srgbClr val="2F6B59"/>
                </a:solidFill>
                <a:latin typeface="Consolas"/>
              </a:rPr>
              <a:t>restore/{restoreConfigId}/csv/{object}/restore.csv</a:t>
            </a:r>
            <a:r>
              <a:rPr sz="1550" b="0">
                <a:solidFill>
                  <a:srgbClr val="48564D"/>
                </a:solidFill>
                <a:latin typeface="Segoe UI"/>
              </a:rPr>
              <a:t>, calls back </a:t>
            </a:r>
            <a:r>
              <a:rPr sz="1450">
                <a:solidFill>
                  <a:srgbClr val="2F6B59"/>
                </a:solidFill>
                <a:latin typeface="Consolas"/>
              </a:rPr>
              <a:t>/update-spark-job-status</a:t>
            </a:r>
            <a:r>
              <a:rPr sz="1550" b="0">
                <a:solidFill>
                  <a:srgbClr val="48564D"/>
                </a:solidFill>
                <a:latin typeface="Segoe UI"/>
              </a:rPr>
              <a:t>, and client-service triggers backup-service's </a:t>
            </a:r>
            <a:r>
              <a:rPr sz="1450">
                <a:solidFill>
                  <a:srgbClr val="2F6B59"/>
                </a:solidFill>
                <a:latin typeface="Consolas"/>
              </a:rPr>
              <a:t>/v1/restore</a:t>
            </a:r>
            <a:r>
              <a:rPr sz="1550" b="0">
                <a:solidFill>
                  <a:srgbClr val="48564D"/>
                </a:solidFill>
                <a:latin typeface="Segoe UI"/>
              </a:rPr>
              <a:t>.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4.  </a:t>
            </a:r>
            <a:r>
              <a:rPr sz="1550" b="1">
                <a:solidFill>
                  <a:srgbClr val="16211C"/>
                </a:solidFill>
                <a:latin typeface="Segoe UI"/>
              </a:rPr>
              <a:t>Ingest &amp; result</a:t>
            </a:r>
            <a:r>
              <a:rPr sz="1550" b="0">
                <a:solidFill>
                  <a:srgbClr val="48564D"/>
                </a:solidFill>
                <a:latin typeface="Segoe UI"/>
              </a:rPr>
              <a:t> — backup-service streams that Spark-generated CSV and re-uploads it through a Salesforce Bulk API 2.0 ingest job (insert/update).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06440"/>
            <a:ext cx="11185855" cy="685800"/>
          </a:xfrm>
          <a:prstGeom prst="rect">
            <a:avLst/>
          </a:prstGeom>
          <a:solidFill>
            <a:srgbClr val="E3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897880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48564D"/>
                </a:solidFill>
                <a:latin typeface="Segoe UI"/>
              </a:rPr>
              <a:t>Restore is </a:t>
            </a:r>
            <a:r>
              <a:rPr sz="1300" b="1">
                <a:solidFill>
                  <a:srgbClr val="16211C"/>
                </a:solidFill>
                <a:latin typeface="Segoe UI"/>
              </a:rPr>
              <a:t>Hudi-sourced end-to-end</a:t>
            </a:r>
            <a:r>
              <a:rPr sz="1300" b="0">
                <a:solidFill>
                  <a:srgbClr val="48564D"/>
                </a:solidFill>
                <a:latin typeface="Segoe UI"/>
              </a:rPr>
              <a:t>: the CSV backup-service reads is generated fresh from the Hudi tables for that specific request — reflecting bulk, archival, and realtime/CDC sources alike.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24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Why Each Technology Is Used  (1 of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700"/>
              </a:spcAft>
            </a:pPr>
            <a:r>
              <a:rPr sz="15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C"/>
                </a:solidFill>
                <a:latin typeface="Segoe UI"/>
              </a:rPr>
              <a:t>Salesforce</a:t>
            </a:r>
            <a:r>
              <a:rPr sz="1500" b="0">
                <a:solidFill>
                  <a:srgbClr val="48564D"/>
                </a:solidFill>
                <a:latin typeface="Segoe UI"/>
              </a:rPr>
              <a:t> — The system of record. All backup/restore semantics exist to protect and reproduce data that lives here; connectivity is OAuth2/PKCE + REST + Bulk API 2.0, plus CDC webhooks for near-real-time capture.</a:t>
            </a:r>
          </a:p>
          <a:p>
            <a:pPr>
              <a:spcAft>
                <a:spcPts val="1700"/>
              </a:spcAft>
            </a:pPr>
            <a:r>
              <a:rPr sz="15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C"/>
                </a:solidFill>
                <a:latin typeface="Segoe UI"/>
              </a:rPr>
              <a:t>EC2 / client-service</a:t>
            </a:r>
            <a:r>
              <a:rPr sz="1500" b="0">
                <a:solidFill>
                  <a:srgbClr val="48564D"/>
                </a:solidFill>
                <a:latin typeface="Segoe UI"/>
              </a:rPr>
              <a:t> — Hosts the long-lived, stateful API/auth/orchestration surface — a persistent-process model (PM2) fits this better than a stateless container fleet.</a:t>
            </a:r>
          </a:p>
          <a:p>
            <a:pPr>
              <a:spcAft>
                <a:spcPts val="1700"/>
              </a:spcAft>
            </a:pPr>
            <a:r>
              <a:rPr sz="15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C"/>
                </a:solidFill>
                <a:latin typeface="Segoe UI"/>
              </a:rPr>
              <a:t>ECS / backup-service</a:t>
            </a:r>
            <a:r>
              <a:rPr sz="1500" b="0">
                <a:solidFill>
                  <a:srgbClr val="48564D"/>
                </a:solidFill>
                <a:latin typeface="Segoe UI"/>
              </a:rPr>
              <a:t> — Isolates the data-movement workload from the API/auth surface so it can be redeployed and scaled independently; matches its stateless, horizontally-scalable nature.</a:t>
            </a:r>
          </a:p>
          <a:p>
            <a:pPr>
              <a:spcAft>
                <a:spcPts val="1700"/>
              </a:spcAft>
            </a:pPr>
            <a:r>
              <a:rPr sz="15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C"/>
                </a:solidFill>
                <a:latin typeface="Segoe UI"/>
              </a:rPr>
              <a:t>S3</a:t>
            </a:r>
            <a:r>
              <a:rPr sz="1500" b="0">
                <a:solidFill>
                  <a:srgbClr val="48564D"/>
                </a:solidFill>
                <a:latin typeface="Segoe UI"/>
              </a:rPr>
              <a:t> — Durable, scalable object storage for every stage: raw CSV/JSON, the Hudi current-state table, the Delta change-log table, schema JSON, and archived logs.</a:t>
            </a:r>
          </a:p>
          <a:p>
            <a:pPr>
              <a:spcAft>
                <a:spcPts val="1700"/>
              </a:spcAft>
            </a:pPr>
            <a:r>
              <a:rPr sz="15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C"/>
                </a:solidFill>
                <a:latin typeface="Segoe UI"/>
              </a:rPr>
              <a:t>AWS Glue</a:t>
            </a:r>
            <a:r>
              <a:rPr sz="1500" b="0">
                <a:solidFill>
                  <a:srgbClr val="48564D"/>
                </a:solidFill>
                <a:latin typeface="Segoe UI"/>
              </a:rPr>
              <a:t> — Used exclusively as a Data Catalog (no ETL jobs): one database per backupConfigId, two tables per object (_hudi, _delta), Hive-style partitions via BatchCreatePartition.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Why Each Technology Is Used  (2 of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700"/>
              </a:spcAft>
            </a:pPr>
            <a:r>
              <a:rPr sz="15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C"/>
                </a:solidFill>
                <a:latin typeface="Segoe UI"/>
              </a:rPr>
              <a:t>EMR Serverless</a:t>
            </a:r>
            <a:r>
              <a:rPr sz="1500" b="0">
                <a:solidFill>
                  <a:srgbClr val="48564D"/>
                </a:solidFill>
                <a:latin typeface="Segoe UI"/>
              </a:rPr>
              <a:t> — Runs the Spark job that performs the actual Hudi write. Serverless avoids managing a persistent cluster for a bursty, job-triggered workload.</a:t>
            </a:r>
          </a:p>
          <a:p>
            <a:pPr>
              <a:spcAft>
                <a:spcPts val="1700"/>
              </a:spcAft>
            </a:pPr>
            <a:r>
              <a:rPr sz="15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C"/>
                </a:solidFill>
                <a:latin typeface="Segoe UI"/>
              </a:rPr>
              <a:t>Hudi</a:t>
            </a:r>
            <a:r>
              <a:rPr sz="1500" b="0">
                <a:solidFill>
                  <a:srgbClr val="48564D"/>
                </a:solidFill>
                <a:latin typeface="Segoe UI"/>
              </a:rPr>
              <a:t> — Record-level upsert/delete semantics and a change timeline: record key </a:t>
            </a:r>
            <a:r>
              <a:rPr sz="1400">
                <a:solidFill>
                  <a:srgbClr val="2F6B59"/>
                </a:solidFill>
                <a:latin typeface="Consolas"/>
              </a:rPr>
              <a:t>Id</a:t>
            </a:r>
            <a:r>
              <a:rPr sz="1500" b="0">
                <a:solidFill>
                  <a:srgbClr val="48564D"/>
                </a:solidFill>
                <a:latin typeface="Segoe UI"/>
              </a:rPr>
              <a:t>, precombine </a:t>
            </a:r>
            <a:r>
              <a:rPr sz="1400">
                <a:solidFill>
                  <a:srgbClr val="2F6B59"/>
                </a:solidFill>
                <a:latin typeface="Consolas"/>
              </a:rPr>
              <a:t>LastModifiedDate</a:t>
            </a:r>
            <a:r>
              <a:rPr sz="1500" b="0">
                <a:solidFill>
                  <a:srgbClr val="48564D"/>
                </a:solidFill>
                <a:latin typeface="Segoe UI"/>
              </a:rPr>
              <a:t>, Copy-on-Write, GLOBAL_BLOOM index, ZSTD compression, inline clustering every 5 commits.</a:t>
            </a:r>
          </a:p>
          <a:p>
            <a:pPr>
              <a:spcAft>
                <a:spcPts val="1700"/>
              </a:spcAft>
            </a:pPr>
            <a:r>
              <a:rPr sz="15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C"/>
                </a:solidFill>
                <a:latin typeface="Segoe UI"/>
              </a:rPr>
              <a:t>Athena</a:t>
            </a:r>
            <a:r>
              <a:rPr sz="1500" b="0">
                <a:solidFill>
                  <a:srgbClr val="48564D"/>
                </a:solidFill>
                <a:latin typeface="Segoe UI"/>
              </a:rPr>
              <a:t> — A serverless SQL engine over the Glue-cataloged Hudi tables, used to preview records before committing to a restore.</a:t>
            </a:r>
          </a:p>
          <a:p>
            <a:pPr>
              <a:spcAft>
                <a:spcPts val="1700"/>
              </a:spcAft>
            </a:pPr>
            <a:r>
              <a:rPr sz="15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C"/>
                </a:solidFill>
                <a:latin typeface="Segoe UI"/>
              </a:rPr>
              <a:t>DynamoDB</a:t>
            </a:r>
            <a:r>
              <a:rPr sz="1500" b="0">
                <a:solidFill>
                  <a:srgbClr val="48564D"/>
                </a:solidFill>
                <a:latin typeface="Segoe UI"/>
              </a:rPr>
              <a:t> — The sole operational datastore for both services (14 tables): configs, jobs, sessions, users, roles, OAuth state, counters. PAY_PER_REQUEST avoids capacity planning.</a:t>
            </a:r>
          </a:p>
          <a:p>
            <a:pPr>
              <a:spcAft>
                <a:spcPts val="1700"/>
              </a:spcAft>
            </a:pPr>
            <a:r>
              <a:rPr sz="15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500" b="1">
                <a:solidFill>
                  <a:srgbClr val="16211C"/>
                </a:solidFill>
                <a:latin typeface="Segoe UI"/>
              </a:rPr>
              <a:t>EventBridge Scheduler</a:t>
            </a:r>
            <a:r>
              <a:rPr sz="1500" b="0">
                <a:solidFill>
                  <a:srgbClr val="48564D"/>
                </a:solidFill>
                <a:latin typeface="Segoe UI"/>
              </a:rPr>
              <a:t> — Durable, managed recurring triggers for scheduled backup-configs — survives EC2 restarts, unlike an in-process cron for long intervals.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27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EMR Java/Spark Service — Confirmed Internals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>
                <a:solidFill>
                  <a:srgbClr val="2F6B59"/>
                </a:solidFill>
                <a:latin typeface="Consolas"/>
              </a:rPr>
              <a:t>DataValut-Middleware-App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84248"/>
            <a:ext cx="11185855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48564D"/>
                </a:solidFill>
                <a:latin typeface="Segoe UI"/>
              </a:rPr>
              <a:t>Everything in this section is sourced from direct inspection of the sibling repository </a:t>
            </a:r>
            <a:r>
              <a:rPr sz="1600">
                <a:solidFill>
                  <a:srgbClr val="2F6B59"/>
                </a:solidFill>
                <a:latin typeface="Consolas"/>
              </a:rPr>
              <a:t>DataValut-Middleware-App/src</a:t>
            </a:r>
            <a:r>
              <a:rPr sz="1700" b="0">
                <a:solidFill>
                  <a:srgbClr val="48564D"/>
                </a:solidFill>
                <a:latin typeface="Segoe UI"/>
              </a:rPr>
              <a:t> (Java, Spark, package </a:t>
            </a:r>
            <a:r>
              <a:rPr sz="1600">
                <a:solidFill>
                  <a:srgbClr val="2F6B59"/>
                </a:solidFill>
                <a:latin typeface="Consolas"/>
              </a:rPr>
              <a:t>com.example.*</a:t>
            </a:r>
            <a:r>
              <a:rPr sz="1700" b="0">
                <a:solidFill>
                  <a:srgbClr val="48564D"/>
                </a:solidFill>
                <a:latin typeface="Segoe UI"/>
              </a:rPr>
              <a:t>). This is the code client-service's </a:t>
            </a:r>
            <a:r>
              <a:rPr sz="1600">
                <a:solidFill>
                  <a:srgbClr val="2F6B59"/>
                </a:solidFill>
                <a:latin typeface="Consolas"/>
              </a:rPr>
              <a:t>submitEMR()</a:t>
            </a:r>
            <a:r>
              <a:rPr sz="1700" b="0">
                <a:solidFill>
                  <a:srgbClr val="48564D"/>
                </a:solidFill>
                <a:latin typeface="Segoe UI"/>
              </a:rPr>
              <a:t> triggers via </a:t>
            </a:r>
            <a:r>
              <a:rPr sz="1600">
                <a:solidFill>
                  <a:srgbClr val="2F6B59"/>
                </a:solidFill>
                <a:latin typeface="Consolas"/>
              </a:rPr>
              <a:t>StartJobRunCommand</a:t>
            </a:r>
            <a:r>
              <a:rPr sz="1700" b="0">
                <a:solidFill>
                  <a:srgbClr val="48564D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30168"/>
            <a:ext cx="11185855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›  </a:t>
            </a:r>
            <a:r>
              <a:rPr sz="1550" b="0">
                <a:solidFill>
                  <a:srgbClr val="48564D"/>
                </a:solidFill>
                <a:latin typeface="Segoe UI"/>
              </a:rPr>
              <a:t>14.1  Job intake &amp; credential flow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›  </a:t>
            </a:r>
            <a:r>
              <a:rPr sz="1550" b="0">
                <a:solidFill>
                  <a:srgbClr val="48564D"/>
                </a:solidFill>
                <a:latin typeface="Segoe UI"/>
              </a:rPr>
              <a:t>14.2  Schema evolution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›  </a:t>
            </a:r>
            <a:r>
              <a:rPr sz="1550" b="0">
                <a:solidFill>
                  <a:srgbClr val="48564D"/>
                </a:solidFill>
                <a:latin typeface="Segoe UI"/>
              </a:rPr>
              <a:t>14.3  S3 path layout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›  </a:t>
            </a:r>
            <a:r>
              <a:rPr sz="1550" b="0">
                <a:solidFill>
                  <a:srgbClr val="48564D"/>
                </a:solidFill>
                <a:latin typeface="Segoe UI"/>
              </a:rPr>
              <a:t>14.4  Retry &amp; checkpointing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›  </a:t>
            </a:r>
            <a:r>
              <a:rPr sz="1550" b="0">
                <a:solidFill>
                  <a:srgbClr val="48564D"/>
                </a:solidFill>
                <a:latin typeface="Segoe UI"/>
              </a:rPr>
              <a:t>14.5  CSV vs JSON input (Java side)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›  </a:t>
            </a:r>
            <a:r>
              <a:rPr sz="1550" b="0">
                <a:solidFill>
                  <a:srgbClr val="48564D"/>
                </a:solidFill>
                <a:latin typeface="Segoe UI"/>
              </a:rPr>
              <a:t>14.6  Restore reads Hudi, not raw CSV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9C6E2A"/>
                </a:solidFill>
                <a:latin typeface="Segoe UI"/>
              </a:rPr>
              <a:t>›  </a:t>
            </a:r>
            <a:r>
              <a:rPr sz="1550" b="0">
                <a:solidFill>
                  <a:srgbClr val="48564D"/>
                </a:solidFill>
                <a:latin typeface="Segoe UI"/>
              </a:rPr>
              <a:t>14.7  Library versions &amp; write-config defaults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28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14.1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Job Intake &amp; Credential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788" y="1252728"/>
            <a:ext cx="11178119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6788" y="1252728"/>
            <a:ext cx="11178119" cy="2468880"/>
          </a:xfrm>
          <a:prstGeom prst="rect">
            <a:avLst/>
          </a:prstGeom>
          <a:noFill/>
          <a:ln w="9525">
            <a:solidFill>
              <a:srgbClr val="DD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out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28" y="1344168"/>
            <a:ext cx="10995239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794760"/>
            <a:ext cx="11185855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300" b="0">
                <a:solidFill>
                  <a:srgbClr val="48564D"/>
                </a:solidFill>
                <a:latin typeface="Segoe UI"/>
              </a:rPr>
              <a:t>The EMR step's only argument is a Base64-encrypted envelope carrying exactly one of </a:t>
            </a:r>
            <a:r>
              <a:rPr sz="1200">
                <a:solidFill>
                  <a:srgbClr val="2F6B59"/>
                </a:solidFill>
                <a:latin typeface="Consolas"/>
              </a:rPr>
              <a:t>backupConfigId</a:t>
            </a:r>
            <a:r>
              <a:rPr sz="1300" b="0">
                <a:solidFill>
                  <a:srgbClr val="48564D"/>
                </a:solidFill>
                <a:latin typeface="Segoe UI"/>
              </a:rPr>
              <a:t> or </a:t>
            </a:r>
            <a:r>
              <a:rPr sz="1200">
                <a:solidFill>
                  <a:srgbClr val="2F6B59"/>
                </a:solidFill>
                <a:latin typeface="Consolas"/>
              </a:rPr>
              <a:t>restoreConfigId</a:t>
            </a:r>
            <a:r>
              <a:rPr sz="1300" b="0">
                <a:solidFill>
                  <a:srgbClr val="48564D"/>
                </a:solidFill>
                <a:latin typeface="Segoe UI"/>
              </a:rPr>
              <a:t> — an id-only payload.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300" b="0">
                <a:solidFill>
                  <a:srgbClr val="48564D"/>
                </a:solidFill>
                <a:latin typeface="Segoe UI"/>
              </a:rPr>
              <a:t>Backup Job IDs are </a:t>
            </a:r>
            <a:r>
              <a:rPr sz="1300" b="1">
                <a:solidFill>
                  <a:srgbClr val="16211C"/>
                </a:solidFill>
                <a:latin typeface="Segoe UI"/>
              </a:rPr>
              <a:t>not</a:t>
            </a:r>
            <a:r>
              <a:rPr sz="1300" b="0">
                <a:solidFill>
                  <a:srgbClr val="48564D"/>
                </a:solidFill>
                <a:latin typeface="Segoe UI"/>
              </a:rPr>
              <a:t> in that argument — they arrive as the keys of </a:t>
            </a:r>
            <a:r>
              <a:rPr sz="1200">
                <a:solidFill>
                  <a:srgbClr val="2F6B59"/>
                </a:solidFill>
                <a:latin typeface="Consolas"/>
              </a:rPr>
              <a:t>objectOperations</a:t>
            </a:r>
            <a:r>
              <a:rPr sz="1300" b="0">
                <a:solidFill>
                  <a:srgbClr val="48564D"/>
                </a:solidFill>
                <a:latin typeface="Segoe UI"/>
              </a:rPr>
              <a:t> in the </a:t>
            </a:r>
            <a:r>
              <a:rPr sz="1200">
                <a:solidFill>
                  <a:srgbClr val="2F6B59"/>
                </a:solidFill>
                <a:latin typeface="Consolas"/>
              </a:rPr>
              <a:t>/build-payload</a:t>
            </a:r>
            <a:r>
              <a:rPr sz="1300" b="0">
                <a:solidFill>
                  <a:srgbClr val="48564D"/>
                </a:solidFill>
                <a:latin typeface="Segoe UI"/>
              </a:rPr>
              <a:t> response.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9C6E2A"/>
                </a:solidFill>
                <a:latin typeface="Segoe UI"/>
              </a:rPr>
              <a:t>—  </a:t>
            </a:r>
            <a:r>
              <a:rPr sz="1300" b="0">
                <a:solidFill>
                  <a:srgbClr val="48564D"/>
                </a:solidFill>
                <a:latin typeface="Segoe UI"/>
              </a:rPr>
              <a:t>AWS credentials for the Spark session are delivered per-job inside that same payload, not baked into the EMR application.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29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14.2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Schema 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27048"/>
            <a:ext cx="11185855" cy="13849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dirty="0">
                <a:solidFill>
                  <a:srgbClr val="48564D"/>
                </a:solidFill>
                <a:latin typeface="Segoe UI"/>
              </a:rPr>
              <a:t>Schema comparison/versioning is handled by </a:t>
            </a:r>
            <a:r>
              <a:rPr sz="1700" dirty="0" err="1">
                <a:solidFill>
                  <a:srgbClr val="2F6B59"/>
                </a:solidFill>
                <a:latin typeface="Consolas"/>
              </a:rPr>
              <a:t>SchemaComparator</a:t>
            </a:r>
            <a:r>
              <a:rPr sz="1800" b="0" dirty="0">
                <a:solidFill>
                  <a:srgbClr val="48564D"/>
                </a:solidFill>
                <a:latin typeface="Segoe UI"/>
              </a:rPr>
              <a:t>, </a:t>
            </a:r>
            <a:r>
              <a:rPr sz="1700" dirty="0" err="1">
                <a:solidFill>
                  <a:srgbClr val="2F6B59"/>
                </a:solidFill>
                <a:latin typeface="Consolas"/>
              </a:rPr>
              <a:t>SchemaDeltaService</a:t>
            </a:r>
            <a:r>
              <a:rPr sz="1800" b="0" dirty="0">
                <a:solidFill>
                  <a:srgbClr val="48564D"/>
                </a:solidFill>
                <a:latin typeface="Segoe UI"/>
              </a:rPr>
              <a:t>, </a:t>
            </a:r>
            <a:r>
              <a:rPr sz="1700" dirty="0" err="1">
                <a:solidFill>
                  <a:srgbClr val="2F6B59"/>
                </a:solidFill>
                <a:latin typeface="Consolas"/>
              </a:rPr>
              <a:t>SchemaService</a:t>
            </a:r>
            <a:r>
              <a:rPr sz="1800" b="0" dirty="0">
                <a:solidFill>
                  <a:srgbClr val="48564D"/>
                </a:solidFill>
                <a:latin typeface="Segoe UI"/>
              </a:rPr>
              <a:t>, </a:t>
            </a:r>
            <a:r>
              <a:rPr sz="1700" dirty="0" err="1">
                <a:solidFill>
                  <a:srgbClr val="2F6B59"/>
                </a:solidFill>
                <a:latin typeface="Consolas"/>
              </a:rPr>
              <a:t>DataFrameCaster</a:t>
            </a:r>
            <a:r>
              <a:rPr sz="1800" b="0" dirty="0">
                <a:solidFill>
                  <a:srgbClr val="48564D"/>
                </a:solidFill>
                <a:latin typeface="Segoe UI"/>
              </a:rPr>
              <a:t>, and </a:t>
            </a:r>
            <a:r>
              <a:rPr sz="1700" dirty="0" err="1">
                <a:solidFill>
                  <a:srgbClr val="2F6B59"/>
                </a:solidFill>
                <a:latin typeface="Consolas"/>
              </a:rPr>
              <a:t>SchemaCatalog</a:t>
            </a:r>
            <a:r>
              <a:rPr sz="1800" b="0" dirty="0">
                <a:solidFill>
                  <a:srgbClr val="48564D"/>
                </a:solidFill>
                <a:latin typeface="Segoe UI"/>
              </a:rPr>
              <a:t>/</a:t>
            </a:r>
            <a:r>
              <a:rPr sz="1700" dirty="0" err="1">
                <a:solidFill>
                  <a:srgbClr val="2F6B59"/>
                </a:solidFill>
                <a:latin typeface="Consolas"/>
              </a:rPr>
              <a:t>SchemaIO</a:t>
            </a:r>
            <a:r>
              <a:rPr sz="1800" b="0" dirty="0">
                <a:solidFill>
                  <a:srgbClr val="48564D"/>
                </a:solidFill>
                <a:latin typeface="Segoe UI"/>
              </a:rPr>
              <a:t>. A detected schema change (field added/dropped/retyped) triggers </a:t>
            </a:r>
            <a:r>
              <a:rPr sz="1700" dirty="0" err="1">
                <a:solidFill>
                  <a:srgbClr val="2F6B59"/>
                </a:solidFill>
                <a:latin typeface="Consolas"/>
              </a:rPr>
              <a:t>rewriteHudiTable</a:t>
            </a:r>
            <a:r>
              <a:rPr sz="1800" b="0" dirty="0">
                <a:solidFill>
                  <a:srgbClr val="48564D"/>
                </a:solidFill>
                <a:latin typeface="Segoe UI"/>
              </a:rPr>
              <a:t> — a full-table </a:t>
            </a:r>
            <a:r>
              <a:rPr sz="1700" dirty="0" err="1">
                <a:solidFill>
                  <a:srgbClr val="2F6B59"/>
                </a:solidFill>
                <a:latin typeface="Consolas"/>
              </a:rPr>
              <a:t>bulk_insert</a:t>
            </a:r>
            <a:r>
              <a:rPr sz="1700" dirty="0">
                <a:solidFill>
                  <a:srgbClr val="2F6B59"/>
                </a:solidFill>
                <a:latin typeface="Consolas"/>
              </a:rPr>
              <a:t> + Overwrite</a:t>
            </a:r>
            <a:r>
              <a:rPr sz="1800" b="0" dirty="0">
                <a:solidFill>
                  <a:srgbClr val="48564D"/>
                </a:solidFill>
                <a:latin typeface="Segoe UI"/>
              </a:rPr>
              <a:t> — and produces its own schema-change delta rows (</a:t>
            </a:r>
            <a:r>
              <a:rPr sz="1700" dirty="0" err="1">
                <a:solidFill>
                  <a:srgbClr val="2F6B59"/>
                </a:solidFill>
                <a:latin typeface="Consolas"/>
              </a:rPr>
              <a:t>SchemaDeltaService</a:t>
            </a:r>
            <a:r>
              <a:rPr sz="1800" b="0" dirty="0">
                <a:solidFill>
                  <a:srgbClr val="48564D"/>
                </a:solidFill>
                <a:latin typeface="Segoe UI"/>
              </a:rPr>
              <a:t>, one row per changed field element, not per affected record). This is the same rewrite path referenced in "Schema changed?" branch.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30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14.3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S3 Path Layout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44168"/>
            <a:ext cx="11185855" cy="2743200"/>
          </a:xfrm>
          <a:prstGeom prst="rect">
            <a:avLst/>
          </a:prstGeom>
          <a:solidFill>
            <a:srgbClr val="141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27048"/>
            <a:ext cx="1072865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B9E8D3"/>
                </a:solidFill>
                <a:latin typeface="Consolas"/>
              </a:rPr>
              <a:t>{bucket}/{sourceName}/{orgId}/BACKUP/{backupJobId}/raw_data/{object}/{op}/</a:t>
            </a:r>
            <a:r>
              <a:rPr sz="1100" i="1">
                <a:solidFill>
                  <a:srgbClr val="9CADA2"/>
                </a:solidFill>
                <a:latin typeface="Segoe UI"/>
              </a:rPr>
              <a:t>   ← input, per Backup Job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B9E8D3"/>
                </a:solidFill>
                <a:latin typeface="Consolas"/>
              </a:rPr>
              <a:t>{bucket}/{sourceName}/{orgId}/BACKUP/{configId}/main_backup_files/{object}/</a:t>
            </a:r>
            <a:r>
              <a:rPr sz="1100" i="1">
                <a:solidFill>
                  <a:srgbClr val="9CADA2"/>
                </a:solidFill>
                <a:latin typeface="Segoe UI"/>
              </a:rPr>
              <a:t>   ← Hudi main (year=/month= inside)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B9E8D3"/>
                </a:solidFill>
                <a:latin typeface="Consolas"/>
              </a:rPr>
              <a:t>{bucket}/{sourceName}/{orgId}/BACKUP/{configId}/deltas/{object}/</a:t>
            </a:r>
            <a:r>
              <a:rPr sz="1100" i="1">
                <a:solidFill>
                  <a:srgbClr val="9CADA2"/>
                </a:solidFill>
                <a:latin typeface="Segoe UI"/>
              </a:rPr>
              <a:t>   ← Hudi delta (flat)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B9E8D3"/>
                </a:solidFill>
                <a:latin typeface="Consolas"/>
              </a:rPr>
              <a:t>{bucket}/{sourceName}/{orgId}/BACKUP/{configId}/schemas/{object}/</a:t>
            </a:r>
            <a:r>
              <a:rPr sz="1100" i="1">
                <a:solidFill>
                  <a:srgbClr val="9CADA2"/>
                </a:solidFill>
                <a:latin typeface="Segoe UI"/>
              </a:rPr>
              <a:t>   ← schema parquet (not Hudi)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B9E8D3"/>
                </a:solidFill>
                <a:latin typeface="Consolas"/>
              </a:rPr>
              <a:t>{bucket}/{sourceName}/{orgId}/archival/{jobId}/main_archival_files/{object}/</a:t>
            </a:r>
            <a:r>
              <a:rPr sz="1100" i="1">
                <a:solidFill>
                  <a:srgbClr val="9CADA2"/>
                </a:solidFill>
                <a:latin typeface="Segoe UI"/>
              </a:rPr>
              <a:t>   ← archival Hudi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B9E8D3"/>
                </a:solidFill>
                <a:latin typeface="Consolas"/>
              </a:rPr>
              <a:t>{bucket}/{sourceName}/{orgId}/restore/{restoreConfigId}/csv/{object}/restore.csv</a:t>
            </a:r>
            <a:r>
              <a:rPr sz="1100" i="1">
                <a:solidFill>
                  <a:srgbClr val="9CADA2"/>
                </a:solidFill>
                <a:latin typeface="Segoe UI"/>
              </a:rPr>
              <a:t>   ← restore output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15968"/>
            <a:ext cx="111858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48564D"/>
                </a:solidFill>
                <a:latin typeface="Segoe UI"/>
              </a:rPr>
              <a:t>Backup Hudi output is scoped by </a:t>
            </a:r>
            <a:r>
              <a:rPr sz="1500" b="1">
                <a:solidFill>
                  <a:srgbClr val="16211C"/>
                </a:solidFill>
                <a:latin typeface="Segoe UI"/>
              </a:rPr>
              <a:t>backupConfigId</a:t>
            </a:r>
            <a:r>
              <a:rPr sz="1500" b="0">
                <a:solidFill>
                  <a:srgbClr val="48564D"/>
                </a:solidFill>
                <a:latin typeface="Segoe UI"/>
              </a:rPr>
              <a:t>, not backupJobId — multiple Backup Jobs feed one shared per-config Hudi table.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31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14.4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Retry &amp; Checkpointing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35608"/>
          <a:ext cx="6400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Policy</a:t>
                      </a:r>
                    </a:p>
                  </a:txBody>
                  <a:tcPr marL="76200" marR="76200" marT="38100" marB="38100" anchor="ctr">
                    <a:solidFill>
                      <a:srgbClr val="2F6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Attempts</a:t>
                      </a:r>
                    </a:p>
                  </a:txBody>
                  <a:tcPr marL="76200" marR="76200" marT="38100" marB="38100" anchor="ctr">
                    <a:solidFill>
                      <a:srgbClr val="2F6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Backoff</a:t>
                      </a:r>
                    </a:p>
                  </a:txBody>
                  <a:tcPr marL="76200" marR="76200" marT="38100" marB="38100" anchor="ctr">
                    <a:solidFill>
                      <a:srgbClr val="2F6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8564D"/>
                          </a:solidFill>
                          <a:latin typeface="Segoe UI"/>
                        </a:rPr>
                        <a:t>HUDI_WRITE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8564D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8564D"/>
                          </a:solidFill>
                          <a:latin typeface="Segoe UI"/>
                        </a:rPr>
                        <a:t>2s, ×2, cap 30s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8564D"/>
                          </a:solidFill>
                          <a:latin typeface="Segoe UI"/>
                        </a:rPr>
                        <a:t>S3_READ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8564D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8564D"/>
                          </a:solidFill>
                          <a:latin typeface="Segoe UI"/>
                        </a:rPr>
                        <a:t>1s, ×2, cap 15s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8564D"/>
                          </a:solidFill>
                          <a:latin typeface="Segoe UI"/>
                        </a:rPr>
                        <a:t>NODE_API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8564D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8564D"/>
                          </a:solidFill>
                          <a:latin typeface="Segoe UI"/>
                        </a:rPr>
                        <a:t>1s, ×2, cap 15s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8564D"/>
                          </a:solidFill>
                          <a:latin typeface="Segoe UI"/>
                        </a:rPr>
                        <a:t>OBJECT_PIPELINE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8564D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8564D"/>
                          </a:solidFill>
                          <a:latin typeface="Segoe UI"/>
                        </a:rPr>
                        <a:t>fixed 5s</a:t>
                      </a:r>
                    </a:p>
                  </a:txBody>
                  <a:tcPr anchor="ctr">
                    <a:solidFill>
                      <a:srgbClr val="E3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8564D"/>
                          </a:solidFill>
                          <a:latin typeface="Segoe UI"/>
                        </a:rPr>
                        <a:t>NO_RETRY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8564D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8564D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813048"/>
            <a:ext cx="11185855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>
                <a:solidFill>
                  <a:srgbClr val="2F6B59"/>
                </a:solidFill>
                <a:latin typeface="Consolas"/>
              </a:rPr>
              <a:t>RetryExecutor</a:t>
            </a:r>
            <a:r>
              <a:rPr sz="1550" b="0">
                <a:solidFill>
                  <a:srgbClr val="48564D"/>
                </a:solidFill>
                <a:latin typeface="Segoe UI"/>
              </a:rPr>
              <a:t> + </a:t>
            </a:r>
            <a:r>
              <a:rPr sz="1450">
                <a:solidFill>
                  <a:srgbClr val="2F6B59"/>
                </a:solidFill>
                <a:latin typeface="Consolas"/>
              </a:rPr>
              <a:t>RetryPolicy</a:t>
            </a:r>
            <a:r>
              <a:rPr sz="1550" b="0">
                <a:solidFill>
                  <a:srgbClr val="48564D"/>
                </a:solidFill>
                <a:latin typeface="Segoe UI"/>
              </a:rPr>
              <a:t> retry only TRANSIENT/INFRASTRUCTURE failures (via </a:t>
            </a:r>
            <a:r>
              <a:rPr sz="1450">
                <a:solidFill>
                  <a:srgbClr val="2F6B59"/>
                </a:solidFill>
                <a:latin typeface="Consolas"/>
              </a:rPr>
              <a:t>ErrorClassifier</a:t>
            </a:r>
            <a:r>
              <a:rPr sz="1550" b="0">
                <a:solidFill>
                  <a:srgbClr val="48564D"/>
                </a:solidFill>
                <a:latin typeface="Segoe UI"/>
              </a:rPr>
              <a:t>). Separately, </a:t>
            </a:r>
            <a:r>
              <a:rPr sz="1450">
                <a:solidFill>
                  <a:srgbClr val="2F6B59"/>
                </a:solidFill>
                <a:latin typeface="Consolas"/>
              </a:rPr>
              <a:t>StageCheckpoint</a:t>
            </a:r>
            <a:r>
              <a:rPr sz="1550" b="0">
                <a:solidFill>
                  <a:srgbClr val="48564D"/>
                </a:solidFill>
                <a:latin typeface="Segoe UI"/>
              </a:rPr>
              <a:t> persists which pipeline stage last completed (e.g. FIRST_RUN_MAIN_WRITE, DELTA_WRITE, SCHEMA_REWRITE, MAIN_UPSERT, HARD_DELETE) so a retried job resumes rather than re-executing already-committed Hudi writes.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32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14.5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CSV vs JSON Input (Confirmed, Java Side)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27048"/>
            <a:ext cx="111858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2F6B59"/>
                </a:solidFill>
                <a:latin typeface="Consolas"/>
              </a:rPr>
              <a:t>CsvReader</a:t>
            </a:r>
            <a:r>
              <a:rPr sz="1700" b="0">
                <a:solidFill>
                  <a:srgbClr val="48564D"/>
                </a:solidFill>
                <a:latin typeface="Segoe UI"/>
              </a:rPr>
              <a:t> reads </a:t>
            </a:r>
            <a:r>
              <a:rPr sz="1600">
                <a:solidFill>
                  <a:srgbClr val="2F6B59"/>
                </a:solidFill>
                <a:latin typeface="Consolas"/>
              </a:rPr>
              <a:t>raw_data/{inserts,updates,deletes,undeletes}</a:t>
            </a:r>
            <a:r>
              <a:rPr sz="1700" b="0">
                <a:solidFill>
                  <a:srgbClr val="48564D"/>
                </a:solidFill>
                <a:latin typeface="Segoe UI"/>
              </a:rPr>
              <a:t> as all-String columns, sanitizes dot-containing column names for Hudi/Parquet compatibility, and dedupes by </a:t>
            </a:r>
            <a:r>
              <a:rPr sz="1600">
                <a:solidFill>
                  <a:srgbClr val="2F6B59"/>
                </a:solidFill>
                <a:latin typeface="Consolas"/>
              </a:rPr>
              <a:t>(Id, LastModifiedDate)</a:t>
            </a:r>
            <a:r>
              <a:rPr sz="1700" b="0">
                <a:solidFill>
                  <a:srgbClr val="48564D"/>
                </a:solidFill>
                <a:latin typeface="Segoe UI"/>
              </a:rPr>
              <a:t>. </a:t>
            </a:r>
            <a:r>
              <a:rPr sz="1600">
                <a:solidFill>
                  <a:srgbClr val="2F6B59"/>
                </a:solidFill>
                <a:latin typeface="Consolas"/>
              </a:rPr>
              <a:t>JsonUpdateReader</a:t>
            </a:r>
            <a:r>
              <a:rPr sz="1700" b="0">
                <a:solidFill>
                  <a:srgbClr val="48564D"/>
                </a:solidFill>
                <a:latin typeface="Segoe UI"/>
              </a:rPr>
              <a:t> reads the </a:t>
            </a:r>
            <a:r>
              <a:rPr sz="1600">
                <a:solidFill>
                  <a:srgbClr val="2F6B59"/>
                </a:solidFill>
                <a:latin typeface="Consolas"/>
              </a:rPr>
              <a:t>updates/</a:t>
            </a:r>
            <a:r>
              <a:rPr sz="1700" b="0">
                <a:solidFill>
                  <a:srgbClr val="48564D"/>
                </a:solidFill>
                <a:latin typeface="Segoe UI"/>
              </a:rPr>
              <a:t> folder's </a:t>
            </a:r>
            <a:r>
              <a:rPr sz="1600">
                <a:solidFill>
                  <a:srgbClr val="2F6B59"/>
                </a:solidFill>
                <a:latin typeface="Consolas"/>
              </a:rPr>
              <a:t>{Id, LastModifiedDate, prev, new}</a:t>
            </a:r>
            <a:r>
              <a:rPr sz="1700" b="0">
                <a:solidFill>
                  <a:srgbClr val="48564D"/>
                </a:solidFill>
                <a:latin typeface="Segoe UI"/>
              </a:rPr>
              <a:t> shape via an explicit map schema, so "absent key" is distinguishable from "null value". Both feed </a:t>
            </a:r>
            <a:r>
              <a:rPr sz="1600">
                <a:solidFill>
                  <a:srgbClr val="2F6B59"/>
                </a:solidFill>
                <a:latin typeface="Consolas"/>
              </a:rPr>
              <a:t>VersionChainService</a:t>
            </a:r>
            <a:r>
              <a:rPr sz="1700" b="0">
                <a:solidFill>
                  <a:srgbClr val="48564D"/>
                </a:solidFill>
                <a:latin typeface="Segoe UI"/>
              </a:rPr>
              <a:t>, which unifies CSV full-row updates and JSON sparse field-level events into one chronological per-Id change chain (forward-fill via </a:t>
            </a:r>
            <a:r>
              <a:rPr sz="1600">
                <a:solidFill>
                  <a:srgbClr val="2F6B59"/>
                </a:solidFill>
                <a:latin typeface="Consolas"/>
              </a:rPr>
              <a:t>last(ignoreNulls=true)</a:t>
            </a:r>
            <a:r>
              <a:rPr sz="1700" b="0">
                <a:solidFill>
                  <a:srgbClr val="48564D"/>
                </a:solidFill>
                <a:latin typeface="Segoe UI"/>
              </a:rPr>
              <a:t> + </a:t>
            </a:r>
            <a:r>
              <a:rPr sz="1600">
                <a:solidFill>
                  <a:srgbClr val="2F6B59"/>
                </a:solidFill>
                <a:latin typeface="Consolas"/>
              </a:rPr>
              <a:t>lag()</a:t>
            </a:r>
            <a:r>
              <a:rPr sz="1700" b="0">
                <a:solidFill>
                  <a:srgbClr val="48564D"/>
                </a:solidFill>
                <a:latin typeface="Segoe UI"/>
              </a:rPr>
              <a:t>), producing both the delta rows and the final accumulated row used for the main-table upsert.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5615" y="6473952"/>
            <a:ext cx="2560320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900">
                <a:solidFill>
                  <a:srgbClr val="7C8A80"/>
                </a:solidFill>
                <a:latin typeface="Segoe UI"/>
              </a:rPr>
              <a:t>DataVault Architecture  ·  33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50" b="1">
                <a:solidFill>
                  <a:srgbClr val="9C6E2A"/>
                </a:solidFill>
                <a:latin typeface="Segoe UI"/>
              </a:rPr>
              <a:t>SECTION 14.6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2500" b="1">
                <a:solidFill>
                  <a:srgbClr val="16211C"/>
                </a:solidFill>
                <a:latin typeface="Segoe UI Semibold"/>
              </a:rPr>
              <a:t>Restore Reads Hudi, Not Raw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50" b="1">
                <a:solidFill>
                  <a:srgbClr val="9C6E2A"/>
                </a:solidFill>
                <a:latin typeface="Segoe UI"/>
              </a:rPr>
              <a:t>—  </a:t>
            </a:r>
            <a:r>
              <a:rPr sz="1450" b="0">
                <a:solidFill>
                  <a:srgbClr val="48564D"/>
                </a:solidFill>
                <a:latin typeface="Segoe UI"/>
              </a:rPr>
              <a:t>Restore first compresses any un-merged backup data into Hudi, so Hudi always reflects the latest state before reconstruction begins.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9C6E2A"/>
                </a:solidFill>
                <a:latin typeface="Segoe UI"/>
              </a:rPr>
              <a:t>—  </a:t>
            </a:r>
            <a:r>
              <a:rPr sz="1450" b="0">
                <a:solidFill>
                  <a:srgbClr val="48564D"/>
                </a:solidFill>
                <a:latin typeface="Segoe UI"/>
              </a:rPr>
              <a:t>It reads the </a:t>
            </a:r>
            <a:r>
              <a:rPr sz="1450" b="1">
                <a:solidFill>
                  <a:srgbClr val="16211C"/>
                </a:solidFill>
                <a:latin typeface="Segoe UI"/>
              </a:rPr>
              <a:t>Hudi main + delta tables</a:t>
            </a:r>
            <a:r>
              <a:rPr sz="1450" b="0">
                <a:solidFill>
                  <a:srgbClr val="48564D"/>
                </a:solidFill>
                <a:latin typeface="Segoe UI"/>
              </a:rPr>
              <a:t> for each object — </a:t>
            </a:r>
            <a:r>
              <a:rPr sz="1350">
                <a:solidFill>
                  <a:srgbClr val="2F6B59"/>
                </a:solidFill>
                <a:latin typeface="Consolas"/>
              </a:rPr>
              <a:t>spark.read().format("hudi").load(mainHudiPath)</a:t>
            </a:r>
            <a:r>
              <a:rPr sz="1450" b="0">
                <a:solidFill>
                  <a:srgbClr val="48564D"/>
                </a:solidFill>
                <a:latin typeface="Segoe UI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9C6E2A"/>
                </a:solidFill>
                <a:latin typeface="Segoe UI"/>
              </a:rPr>
              <a:t>—  </a:t>
            </a:r>
            <a:r>
              <a:rPr sz="1350">
                <a:solidFill>
                  <a:srgbClr val="2F6B59"/>
                </a:solidFill>
                <a:latin typeface="Consolas"/>
              </a:rPr>
              <a:t>RestoreConfigs.SourceType</a:t>
            </a:r>
            <a:r>
              <a:rPr sz="1450" b="0">
                <a:solidFill>
                  <a:srgbClr val="48564D"/>
                </a:solidFill>
                <a:latin typeface="Segoe UI"/>
              </a:rPr>
              <a:t> supports </a:t>
            </a:r>
            <a:r>
              <a:rPr sz="1350">
                <a:solidFill>
                  <a:srgbClr val="2F6B59"/>
                </a:solidFill>
                <a:latin typeface="Consolas"/>
              </a:rPr>
              <a:t>ENTIRE</a:t>
            </a:r>
            <a:r>
              <a:rPr sz="1450" b="0">
                <a:solidFill>
                  <a:srgbClr val="48564D"/>
                </a:solidFill>
                <a:latin typeface="Segoe UI"/>
              </a:rPr>
              <a:t>, </a:t>
            </a:r>
            <a:r>
              <a:rPr sz="1350">
                <a:solidFill>
                  <a:srgbClr val="2F6B59"/>
                </a:solidFill>
                <a:latin typeface="Consolas"/>
              </a:rPr>
              <a:t>PARTIAL</a:t>
            </a:r>
            <a:r>
              <a:rPr sz="1450" b="0">
                <a:solidFill>
                  <a:srgbClr val="48564D"/>
                </a:solidFill>
                <a:latin typeface="Segoe UI"/>
              </a:rPr>
              <a:t>/default (delta-reconstructed), </a:t>
            </a:r>
            <a:r>
              <a:rPr sz="1350">
                <a:solidFill>
                  <a:srgbClr val="2F6B59"/>
                </a:solidFill>
                <a:latin typeface="Consolas"/>
              </a:rPr>
              <a:t>CHANGED_BETWEEN</a:t>
            </a:r>
            <a:r>
              <a:rPr sz="1450" b="0">
                <a:solidFill>
                  <a:srgbClr val="48564D"/>
                </a:solidFill>
                <a:latin typeface="Segoe UI"/>
              </a:rPr>
              <a:t> a date window, and </a:t>
            </a:r>
            <a:r>
              <a:rPr sz="1350">
                <a:solidFill>
                  <a:srgbClr val="2F6B59"/>
                </a:solidFill>
                <a:latin typeface="Consolas"/>
              </a:rPr>
              <a:t>DELETED_ONLY</a:t>
            </a:r>
            <a:r>
              <a:rPr sz="1450" b="0">
                <a:solidFill>
                  <a:srgbClr val="48564D"/>
                </a:solidFill>
                <a:latin typeface="Segoe UI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9C6E2A"/>
                </a:solidFill>
                <a:latin typeface="Segoe UI"/>
              </a:rPr>
              <a:t>—  </a:t>
            </a:r>
            <a:r>
              <a:rPr sz="1450" b="0">
                <a:solidFill>
                  <a:srgbClr val="48564D"/>
                </a:solidFill>
                <a:latin typeface="Segoe UI"/>
              </a:rPr>
              <a:t>Handles parent resurrection from DELETE deltas, inactive-owner reassignment, record-type mapping, required-field defaults, and merge rules.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9C6E2A"/>
                </a:solidFill>
                <a:latin typeface="Segoe UI"/>
              </a:rPr>
              <a:t>—  </a:t>
            </a:r>
            <a:r>
              <a:rPr sz="1450" b="0">
                <a:solidFill>
                  <a:srgbClr val="48564D"/>
                </a:solidFill>
                <a:latin typeface="Segoe UI"/>
              </a:rPr>
              <a:t>Writes CSV per object to </a:t>
            </a:r>
            <a:r>
              <a:rPr sz="1350">
                <a:solidFill>
                  <a:srgbClr val="2F6B59"/>
                </a:solidFill>
                <a:latin typeface="Consolas"/>
              </a:rPr>
              <a:t>restore/{restoreConfigId}/csv/{object}/restore.csv</a:t>
            </a:r>
            <a:r>
              <a:rPr sz="1450" b="0">
                <a:solidFill>
                  <a:srgbClr val="48564D"/>
                </a:solidFill>
                <a:latin typeface="Segoe UI"/>
              </a:rPr>
              <a:t>; </a:t>
            </a:r>
            <a:r>
              <a:rPr sz="1350">
                <a:solidFill>
                  <a:srgbClr val="2F6B59"/>
                </a:solidFill>
                <a:latin typeface="Consolas"/>
              </a:rPr>
              <a:t>isDemoOnly=true</a:t>
            </a:r>
            <a:r>
              <a:rPr sz="1450" b="0">
                <a:solidFill>
                  <a:srgbClr val="48564D"/>
                </a:solidFill>
                <a:latin typeface="Segoe UI"/>
              </a:rPr>
              <a:t> runs a dry-run record-count preview.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623560"/>
            <a:ext cx="11185855" cy="868680"/>
          </a:xfrm>
          <a:prstGeom prst="rect">
            <a:avLst/>
          </a:prstGeom>
          <a:solidFill>
            <a:srgbClr val="E3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733288"/>
            <a:ext cx="1082009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48564D"/>
                </a:solidFill>
                <a:latin typeface="Segoe UI"/>
              </a:rPr>
              <a:t>client-service (initalizeRestoreTransform → EMR) → Java/Spark app (Hudi → restore.csv in S3) → client-service (/update-spark-job-status → tiggerRestoreJob) → backup-service (streamCsvLinesFromS3 → Salesforce Bulk API ingest).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9C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3301</Words>
  <Application>Microsoft Office PowerPoint</Application>
  <PresentationFormat>Widescreen</PresentationFormat>
  <Paragraphs>271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samsynexc2@outlook.com</cp:lastModifiedBy>
  <cp:revision>1</cp:revision>
  <dcterms:created xsi:type="dcterms:W3CDTF">2013-01-27T09:14:16Z</dcterms:created>
  <dcterms:modified xsi:type="dcterms:W3CDTF">2026-08-25T13:03:56Z</dcterms:modified>
  <cp:category/>
</cp:coreProperties>
</file>